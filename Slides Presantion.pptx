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4.xml" ContentType="application/vnd.openxmlformats-officedocument.presentationml.notesSl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5.xml" ContentType="application/vnd.openxmlformats-officedocument.presentationml.notesSlid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notesSlides/notesSlide6.xml" ContentType="application/vnd.openxmlformats-officedocument.presentationml.notesSlid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notesSlides/notesSlide7.xml" ContentType="application/vnd.openxmlformats-officedocument.presentationml.notesSlid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notesSlides/notesSlide8.xml" ContentType="application/vnd.openxmlformats-officedocument.presentationml.notesSlid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1"/>
  </p:notesMasterIdLst>
  <p:sldIdLst>
    <p:sldId id="256" r:id="rId2"/>
    <p:sldId id="265" r:id="rId3"/>
    <p:sldId id="268" r:id="rId4"/>
    <p:sldId id="297" r:id="rId5"/>
    <p:sldId id="296" r:id="rId6"/>
    <p:sldId id="266" r:id="rId7"/>
    <p:sldId id="261" r:id="rId8"/>
    <p:sldId id="298" r:id="rId9"/>
    <p:sldId id="275" r:id="rId10"/>
  </p:sldIdLst>
  <p:sldSz cx="18288000" cy="10287000"/>
  <p:notesSz cx="6858000" cy="9144000"/>
  <p:embeddedFontLst>
    <p:embeddedFont>
      <p:font typeface="Open Sans" panose="020B0604020202020204" charset="0"/>
      <p:regular r:id="rId12"/>
    </p:embeddedFont>
    <p:embeddedFont>
      <p:font typeface="Calibri" panose="020F0502020204030204" pitchFamily="34" charset="0"/>
      <p:regular r:id="rId13"/>
      <p:bold r:id="rId14"/>
      <p:italic r:id="rId15"/>
      <p:boldItalic r:id="rId16"/>
    </p:embeddedFont>
    <p:embeddedFont>
      <p:font typeface="Andika" panose="020B0604020202020204" charset="0"/>
      <p:regular r:id="rId17"/>
    </p:embeddedFont>
    <p:embeddedFont>
      <p:font typeface="Monotype Corsiva" panose="03010101010201010101" pitchFamily="66" charset="0"/>
      <p:italic r:id="rId18"/>
    </p:embeddedFont>
    <p:embeddedFont>
      <p:font typeface="Open Sans Bold" panose="020B0604020202020204" charset="0"/>
      <p:regular r:id="rId19"/>
    </p:embeddedFont>
    <p:embeddedFont>
      <p:font typeface="DM Serif Display" panose="020B0604020202020204" charset="0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6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9049" autoAdjust="0"/>
    <p:restoredTop sz="94622" autoAdjust="0"/>
  </p:normalViewPr>
  <p:slideViewPr>
    <p:cSldViewPr>
      <p:cViewPr varScale="1">
        <p:scale>
          <a:sx n="53" d="100"/>
          <a:sy n="53" d="100"/>
        </p:scale>
        <p:origin x="206" y="7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font" Target="fonts/font9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Relationship Id="rId22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.xlsx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5.xlsx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00" b="1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800" b="1" dirty="0" smtClean="0"/>
              <a:t>Revenue by Time of Day</a:t>
            </a:r>
            <a:endParaRPr lang="en-ZA" sz="1800" b="1" dirty="0"/>
          </a:p>
        </c:rich>
      </c:tx>
      <c:layout>
        <c:manualLayout>
          <c:xMode val="edge"/>
          <c:yMode val="edge"/>
          <c:x val="0.30223361614681887"/>
          <c:y val="3.125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1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13388411270019818"/>
          <c:y val="8.5992249015748035E-2"/>
          <c:w val="0.8389050029460603"/>
          <c:h val="0.78874101870078739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Afternoon</c:v>
                </c:pt>
              </c:strCache>
            </c:strRef>
          </c:tx>
          <c:spPr>
            <a:solidFill>
              <a:schemeClr val="bg2">
                <a:lumMod val="50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3"/>
                <c:pt idx="0">
                  <c:v>Astoria</c:v>
                </c:pt>
                <c:pt idx="1">
                  <c:v>Hell's Kitchen</c:v>
                </c:pt>
                <c:pt idx="2">
                  <c:v>Lower Manhattan</c:v>
                </c:pt>
              </c:strCache>
            </c:strRef>
          </c:cat>
          <c:val>
            <c:numRef>
              <c:f>Sheet1!$B$2:$B$5</c:f>
              <c:numCache>
                <c:formatCode>_-[$R-1C09]* #,##0.00_-;\-[$R-1C09]* #,##0.00_-;_-[$R-1C09]* "-"??_-;_-@_-</c:formatCode>
                <c:ptCount val="4"/>
                <c:pt idx="0">
                  <c:v>63277</c:v>
                </c:pt>
                <c:pt idx="1">
                  <c:v>47731</c:v>
                </c:pt>
                <c:pt idx="2">
                  <c:v>54895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C84-4A16-A84C-A79BF9861C6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Evening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3"/>
                <c:pt idx="0">
                  <c:v>Astoria</c:v>
                </c:pt>
                <c:pt idx="1">
                  <c:v>Hell's Kitchen</c:v>
                </c:pt>
                <c:pt idx="2">
                  <c:v>Lower Manhattan</c:v>
                </c:pt>
              </c:strCache>
            </c:strRef>
          </c:cat>
          <c:val>
            <c:numRef>
              <c:f>Sheet1!$C$2:$C$5</c:f>
              <c:numCache>
                <c:formatCode>_-[$R-1C09]* #,##0.00_-;\-[$R-1C09]* #,##0.00_-;_-[$R-1C09]* "-"??_-;_-@_-</c:formatCode>
                <c:ptCount val="4"/>
                <c:pt idx="0">
                  <c:v>48587</c:v>
                </c:pt>
                <c:pt idx="1">
                  <c:v>37288</c:v>
                </c:pt>
                <c:pt idx="2">
                  <c:v>31563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C84-4A16-A84C-A79BF9861C6F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Morning</c:v>
                </c:pt>
              </c:strCache>
            </c:strRef>
          </c:tx>
          <c:spPr>
            <a:solidFill>
              <a:schemeClr val="accent6">
                <a:lumMod val="75000"/>
              </a:schemeClr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accent6">
                  <a:lumMod val="7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2-12C6-4F12-9AEB-DD3A960B80B7}"/>
              </c:ext>
            </c:extLst>
          </c:dPt>
          <c:dPt>
            <c:idx val="1"/>
            <c:invertIfNegative val="0"/>
            <c:bubble3D val="0"/>
            <c:spPr>
              <a:solidFill>
                <a:schemeClr val="accent6">
                  <a:lumMod val="7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12C6-4F12-9AEB-DD3A960B80B7}"/>
              </c:ext>
            </c:extLst>
          </c:dPt>
          <c:dPt>
            <c:idx val="2"/>
            <c:invertIfNegative val="0"/>
            <c:bubble3D val="0"/>
            <c:spPr>
              <a:solidFill>
                <a:schemeClr val="accent6">
                  <a:lumMod val="7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0-12C6-4F12-9AEB-DD3A960B80B7}"/>
              </c:ext>
            </c:extLst>
          </c:dPt>
          <c:cat>
            <c:strRef>
              <c:f>Sheet1!$A$2:$A$5</c:f>
              <c:strCache>
                <c:ptCount val="3"/>
                <c:pt idx="0">
                  <c:v>Astoria</c:v>
                </c:pt>
                <c:pt idx="1">
                  <c:v>Hell's Kitchen</c:v>
                </c:pt>
                <c:pt idx="2">
                  <c:v>Lower Manhattan</c:v>
                </c:pt>
              </c:strCache>
            </c:strRef>
          </c:cat>
          <c:val>
            <c:numRef>
              <c:f>Sheet1!$D$2:$D$5</c:f>
              <c:numCache>
                <c:formatCode>_-[$R-1C09]* #,##0.00_-;\-[$R-1C09]* #,##0.00_-;_-[$R-1C09]* "-"??_-;_-@_-</c:formatCode>
                <c:ptCount val="4"/>
                <c:pt idx="0">
                  <c:v>105848</c:v>
                </c:pt>
                <c:pt idx="1">
                  <c:v>140457</c:v>
                </c:pt>
                <c:pt idx="2">
                  <c:v>144981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0C84-4A16-A84C-A79BF9861C6F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Night</c:v>
                </c:pt>
              </c:strCache>
            </c:strRef>
          </c:tx>
          <c:spPr>
            <a:solidFill>
              <a:schemeClr val="accent6">
                <a:lumMod val="50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3"/>
                <c:pt idx="0">
                  <c:v>Astoria</c:v>
                </c:pt>
                <c:pt idx="1">
                  <c:v>Hell's Kitchen</c:v>
                </c:pt>
                <c:pt idx="2">
                  <c:v>Lower Manhattan</c:v>
                </c:pt>
              </c:strCache>
            </c:strRef>
          </c:cat>
          <c:val>
            <c:numRef>
              <c:f>Sheet1!$E$2:$E$5</c:f>
              <c:numCache>
                <c:formatCode>_-[$R-1C09]* #,##0.00_-;\-[$R-1C09]* #,##0.00_-;_-[$R-1C09]* "-"??_-;_-@_-</c:formatCode>
                <c:ptCount val="4"/>
                <c:pt idx="0">
                  <c:v>17274</c:v>
                </c:pt>
                <c:pt idx="1">
                  <c:v>13714</c:v>
                </c:pt>
                <c:pt idx="2">
                  <c:v>1050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0C84-4A16-A84C-A79BF9861C6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390977656"/>
        <c:axId val="390970768"/>
      </c:barChart>
      <c:catAx>
        <c:axId val="39097765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90970768"/>
        <c:crosses val="autoZero"/>
        <c:auto val="1"/>
        <c:lblAlgn val="ctr"/>
        <c:lblOffset val="100"/>
        <c:noMultiLvlLbl val="0"/>
      </c:catAx>
      <c:valAx>
        <c:axId val="390970768"/>
        <c:scaling>
          <c:orientation val="minMax"/>
        </c:scaling>
        <c:delete val="0"/>
        <c:axPos val="l"/>
        <c:numFmt formatCode="_-[$R-1C09]* #,##0.00_-;\-[$R-1C09]* #,##0.00_-;_-[$R-1C09]* &quot;-&quot;??_-;_-@_-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9097765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3255660542432196"/>
          <c:y val="0.92108821358267712"/>
          <c:w val="0.448867782152231"/>
          <c:h val="5.7036786417322842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1200"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 smtClean="0"/>
              <a:t>Revenue by Day of Week</a:t>
            </a:r>
            <a:endParaRPr lang="en-ZA" dirty="0"/>
          </a:p>
        </c:rich>
      </c:tx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7.0071027305797298E-2"/>
          <c:y val="6.8804749015748026E-2"/>
          <c:w val="0.65769305152645396"/>
          <c:h val="0.88634092027559053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Astoria</c:v>
                </c:pt>
              </c:strCache>
            </c:strRef>
          </c:tx>
          <c:spPr>
            <a:solidFill>
              <a:schemeClr val="bg2">
                <a:lumMod val="50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Sheet1!$A$2:$A$8</c:f>
              <c:strCache>
                <c:ptCount val="7"/>
                <c:pt idx="0">
                  <c:v>Sun</c:v>
                </c:pt>
                <c:pt idx="1">
                  <c:v>Mon</c:v>
                </c:pt>
                <c:pt idx="2">
                  <c:v>Tue</c:v>
                </c:pt>
                <c:pt idx="3">
                  <c:v>Wed</c:v>
                </c:pt>
                <c:pt idx="4">
                  <c:v>Thu</c:v>
                </c:pt>
                <c:pt idx="5">
                  <c:v>Fri</c:v>
                </c:pt>
                <c:pt idx="6">
                  <c:v>Sat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33167</c:v>
                </c:pt>
                <c:pt idx="1">
                  <c:v>34311</c:v>
                </c:pt>
                <c:pt idx="2">
                  <c:v>32205</c:v>
                </c:pt>
                <c:pt idx="3">
                  <c:v>34652</c:v>
                </c:pt>
                <c:pt idx="4">
                  <c:v>34517</c:v>
                </c:pt>
                <c:pt idx="5">
                  <c:v>33869</c:v>
                </c:pt>
                <c:pt idx="6">
                  <c:v>32252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E2F-4202-AE70-69415329ED35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Hell's Kitchen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Sheet1!$A$2:$A$8</c:f>
              <c:strCache>
                <c:ptCount val="7"/>
                <c:pt idx="0">
                  <c:v>Sun</c:v>
                </c:pt>
                <c:pt idx="1">
                  <c:v>Mon</c:v>
                </c:pt>
                <c:pt idx="2">
                  <c:v>Tue</c:v>
                </c:pt>
                <c:pt idx="3">
                  <c:v>Wed</c:v>
                </c:pt>
                <c:pt idx="4">
                  <c:v>Thu</c:v>
                </c:pt>
                <c:pt idx="5">
                  <c:v>Fri</c:v>
                </c:pt>
                <c:pt idx="6">
                  <c:v>Sat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34083</c:v>
                </c:pt>
                <c:pt idx="1">
                  <c:v>33754</c:v>
                </c:pt>
                <c:pt idx="2">
                  <c:v>35246</c:v>
                </c:pt>
                <c:pt idx="3">
                  <c:v>34159</c:v>
                </c:pt>
                <c:pt idx="4">
                  <c:v>33845</c:v>
                </c:pt>
                <c:pt idx="5">
                  <c:v>35140</c:v>
                </c:pt>
                <c:pt idx="6">
                  <c:v>32963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E2F-4202-AE70-69415329ED35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Lower Manhattan</c:v>
                </c:pt>
              </c:strCache>
            </c:strRef>
          </c:tx>
          <c:spPr>
            <a:solidFill>
              <a:schemeClr val="accent6">
                <a:lumMod val="75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Sheet1!$A$2:$A$8</c:f>
              <c:strCache>
                <c:ptCount val="7"/>
                <c:pt idx="0">
                  <c:v>Sun</c:v>
                </c:pt>
                <c:pt idx="1">
                  <c:v>Mon</c:v>
                </c:pt>
                <c:pt idx="2">
                  <c:v>Tue</c:v>
                </c:pt>
                <c:pt idx="3">
                  <c:v>Wed</c:v>
                </c:pt>
                <c:pt idx="4">
                  <c:v>Thu</c:v>
                </c:pt>
                <c:pt idx="5">
                  <c:v>Fri</c:v>
                </c:pt>
                <c:pt idx="6">
                  <c:v>Sat</c:v>
                </c:pt>
              </c:strCache>
            </c:strRef>
          </c:cat>
          <c:val>
            <c:numRef>
              <c:f>Sheet1!$D$2:$D$8</c:f>
              <c:numCache>
                <c:formatCode>General</c:formatCode>
                <c:ptCount val="7"/>
                <c:pt idx="0">
                  <c:v>32207</c:v>
                </c:pt>
                <c:pt idx="1">
                  <c:v>34733</c:v>
                </c:pt>
                <c:pt idx="2">
                  <c:v>33102</c:v>
                </c:pt>
                <c:pt idx="3">
                  <c:v>32647</c:v>
                </c:pt>
                <c:pt idx="4">
                  <c:v>33508</c:v>
                </c:pt>
                <c:pt idx="5">
                  <c:v>33505</c:v>
                </c:pt>
                <c:pt idx="6">
                  <c:v>32787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CE2F-4202-AE70-69415329ED3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646357264"/>
        <c:axId val="646357920"/>
      </c:barChart>
      <c:catAx>
        <c:axId val="64635726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46357920"/>
        <c:crosses val="autoZero"/>
        <c:auto val="1"/>
        <c:lblAlgn val="ctr"/>
        <c:lblOffset val="100"/>
        <c:noMultiLvlLbl val="0"/>
      </c:catAx>
      <c:valAx>
        <c:axId val="646357920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46357264"/>
        <c:crosses val="autoZero"/>
        <c:crossBetween val="between"/>
      </c:valAx>
      <c:spPr>
        <a:noFill/>
        <a:ln w="25400">
          <a:noFill/>
        </a:ln>
        <a:effectLst/>
      </c:spPr>
    </c:plotArea>
    <c:legend>
      <c:legendPos val="r"/>
      <c:layout>
        <c:manualLayout>
          <c:xMode val="edge"/>
          <c:yMode val="edge"/>
          <c:x val="0.78662672100198006"/>
          <c:y val="0.4654109251968504"/>
          <c:w val="0.20460134917345857"/>
          <c:h val="0.20313115157480316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8.306258592675915E-2"/>
          <c:y val="0.25155169975010611"/>
          <c:w val="0.89511201724784406"/>
          <c:h val="0.50356134188316293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Astoria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3408</c:v>
                </c:pt>
                <c:pt idx="1">
                  <c:v>3091</c:v>
                </c:pt>
                <c:pt idx="2">
                  <c:v>3768</c:v>
                </c:pt>
                <c:pt idx="3">
                  <c:v>4071</c:v>
                </c:pt>
                <c:pt idx="4">
                  <c:v>4671</c:v>
                </c:pt>
                <c:pt idx="5">
                  <c:v>4655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58F6-4B61-86F4-3D9385D083AA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Hell's Kitchen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3333</c:v>
                </c:pt>
                <c:pt idx="1">
                  <c:v>3104</c:v>
                </c:pt>
                <c:pt idx="2">
                  <c:v>3785</c:v>
                </c:pt>
                <c:pt idx="3">
                  <c:v>4019</c:v>
                </c:pt>
                <c:pt idx="4">
                  <c:v>4594</c:v>
                </c:pt>
                <c:pt idx="5">
                  <c:v>4647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58F6-4B61-86F4-3D9385D083AA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Lower Manhattan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3048</c:v>
                </c:pt>
                <c:pt idx="1">
                  <c:v>2808</c:v>
                </c:pt>
                <c:pt idx="2">
                  <c:v>3401</c:v>
                </c:pt>
                <c:pt idx="3">
                  <c:v>3656</c:v>
                </c:pt>
                <c:pt idx="4">
                  <c:v>4157</c:v>
                </c:pt>
                <c:pt idx="5">
                  <c:v>4152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58F6-4B61-86F4-3D9385D083A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84806008"/>
        <c:axId val="484805352"/>
      </c:lineChart>
      <c:catAx>
        <c:axId val="48480600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84805352"/>
        <c:crosses val="autoZero"/>
        <c:auto val="1"/>
        <c:lblAlgn val="ctr"/>
        <c:lblOffset val="100"/>
        <c:noMultiLvlLbl val="0"/>
      </c:catAx>
      <c:valAx>
        <c:axId val="484805352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8480600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1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ZA" b="1"/>
              <a:t>Revenue per location</a:t>
            </a:r>
          </a:p>
        </c:rich>
      </c:tx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1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Sum of TOTAL_REVENUE</c:v>
                </c:pt>
              </c:strCache>
            </c:strRef>
          </c:tx>
          <c:explosion val="1"/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A568-4B60-9F63-9B2370F6B74A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A568-4B60-9F63-9B2370F6B74A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A568-4B60-9F63-9B2370F6B74A}"/>
              </c:ext>
            </c:extLst>
          </c:dPt>
          <c:dLbls>
            <c:dLbl>
              <c:idx val="0"/>
              <c:layout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noAutofit/>
                </a:bodyPr>
                <a:lstStyle/>
                <a:p>
                  <a:pPr>
                    <a:defRPr sz="1800" b="0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bestFi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1139946769749455"/>
                      <c:h val="7.5181159420289856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1-A568-4B60-9F63-9B2370F6B74A}"/>
                </c:ext>
              </c:extLst>
            </c:dLbl>
            <c:dLbl>
              <c:idx val="1"/>
              <c:layout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noAutofit/>
                </a:bodyPr>
                <a:lstStyle/>
                <a:p>
                  <a:pPr>
                    <a:defRPr sz="1800" b="0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bestFi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15371407661778366"/>
                      <c:h val="5.2083333333333336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3-A568-4B60-9F63-9B2370F6B74A}"/>
                </c:ext>
              </c:extLst>
            </c:dLbl>
            <c:dLbl>
              <c:idx val="2"/>
              <c:layout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noAutofit/>
                </a:bodyPr>
                <a:lstStyle/>
                <a:p>
                  <a:pPr>
                    <a:defRPr sz="1800" b="0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bestFi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15053652464635661"/>
                      <c:h val="0.1204821408193541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5-A568-4B60-9F63-9B2370F6B74A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8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bestFit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Sheet1!$A$2:$A$5</c:f>
              <c:strCache>
                <c:ptCount val="3"/>
                <c:pt idx="0">
                  <c:v>Astoria</c:v>
                </c:pt>
                <c:pt idx="1">
                  <c:v>Hell's Kitchen</c:v>
                </c:pt>
                <c:pt idx="2">
                  <c:v>Lower Manhattan</c:v>
                </c:pt>
              </c:strCache>
              <c:extLst/>
            </c:strRef>
          </c:cat>
          <c:val>
            <c:numRef>
              <c:f>Sheet1!$B$2:$B$5</c:f>
              <c:numCache>
                <c:formatCode>General</c:formatCode>
                <c:ptCount val="3"/>
                <c:pt idx="0">
                  <c:v>234986</c:v>
                </c:pt>
                <c:pt idx="1">
                  <c:v>239190</c:v>
                </c:pt>
                <c:pt idx="2">
                  <c:v>232489</c:v>
                </c:pt>
              </c:numCache>
              <c:extLst/>
            </c:numRef>
          </c:val>
          <c:extLst>
            <c:ext xmlns:c16="http://schemas.microsoft.com/office/drawing/2014/chart" uri="{C3380CC4-5D6E-409C-BE32-E72D297353CC}">
              <c16:uniqueId val="{00000000-8425-49F8-B580-97AA363027CD}"/>
            </c:ext>
          </c:extLst>
        </c:ser>
        <c:dLbls>
          <c:dLblPos val="bestFi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0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1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ZA" sz="1800" b="1" dirty="0" smtClean="0">
              <a:effectLst/>
            </a:endParaRPr>
          </a:p>
          <a:p>
            <a:pPr>
              <a:defRPr b="1"/>
            </a:pPr>
            <a:endParaRPr lang="en-ZA" b="1" dirty="0">
              <a:effectLst/>
            </a:endParaRPr>
          </a:p>
        </c:rich>
      </c:tx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1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6.6866951210537928E-2"/>
          <c:y val="7.1999698120801994E-2"/>
          <c:w val="0.85861260333112566"/>
          <c:h val="0.7660880123629406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Astoria</c:v>
                </c:pt>
              </c:strCache>
            </c:strRef>
          </c:tx>
          <c:spPr>
            <a:solidFill>
              <a:schemeClr val="accent6">
                <a:lumMod val="75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Sheet1!$A$2:$A$10</c:f>
              <c:strCache>
                <c:ptCount val="9"/>
                <c:pt idx="0">
                  <c:v>Bakery</c:v>
                </c:pt>
                <c:pt idx="1">
                  <c:v>Branded</c:v>
                </c:pt>
                <c:pt idx="2">
                  <c:v>Coffee</c:v>
                </c:pt>
                <c:pt idx="3">
                  <c:v>Coffee beans</c:v>
                </c:pt>
                <c:pt idx="4">
                  <c:v>Drinking Chocolate</c:v>
                </c:pt>
                <c:pt idx="5">
                  <c:v>Flavours</c:v>
                </c:pt>
                <c:pt idx="6">
                  <c:v>Loose Tea</c:v>
                </c:pt>
                <c:pt idx="7">
                  <c:v>Packaged Chocolate</c:v>
                </c:pt>
                <c:pt idx="8">
                  <c:v>Tea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3935</c:v>
                </c:pt>
                <c:pt idx="1">
                  <c:v>206</c:v>
                </c:pt>
                <c:pt idx="2">
                  <c:v>8947</c:v>
                </c:pt>
                <c:pt idx="3">
                  <c:v>444</c:v>
                </c:pt>
                <c:pt idx="4">
                  <c:v>1892</c:v>
                </c:pt>
                <c:pt idx="5">
                  <c:v>613</c:v>
                </c:pt>
                <c:pt idx="6">
                  <c:v>306</c:v>
                </c:pt>
                <c:pt idx="7">
                  <c:v>104</c:v>
                </c:pt>
                <c:pt idx="8">
                  <c:v>7217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DC3-4B0C-A8A2-24293161B5C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Hell's Kitchen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Sheet1!$A$2:$A$10</c:f>
              <c:strCache>
                <c:ptCount val="9"/>
                <c:pt idx="0">
                  <c:v>Bakery</c:v>
                </c:pt>
                <c:pt idx="1">
                  <c:v>Branded</c:v>
                </c:pt>
                <c:pt idx="2">
                  <c:v>Coffee</c:v>
                </c:pt>
                <c:pt idx="3">
                  <c:v>Coffee beans</c:v>
                </c:pt>
                <c:pt idx="4">
                  <c:v>Drinking Chocolate</c:v>
                </c:pt>
                <c:pt idx="5">
                  <c:v>Flavours</c:v>
                </c:pt>
                <c:pt idx="6">
                  <c:v>Loose Tea</c:v>
                </c:pt>
                <c:pt idx="7">
                  <c:v>Packaged Chocolate</c:v>
                </c:pt>
                <c:pt idx="8">
                  <c:v>Tea</c:v>
                </c:pt>
              </c:strCache>
            </c: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3532</c:v>
                </c:pt>
                <c:pt idx="1">
                  <c:v>102</c:v>
                </c:pt>
                <c:pt idx="2">
                  <c:v>8968</c:v>
                </c:pt>
                <c:pt idx="3">
                  <c:v>619</c:v>
                </c:pt>
                <c:pt idx="4">
                  <c:v>1753</c:v>
                </c:pt>
                <c:pt idx="5">
                  <c:v>992</c:v>
                </c:pt>
                <c:pt idx="6">
                  <c:v>421</c:v>
                </c:pt>
                <c:pt idx="7">
                  <c:v>187</c:v>
                </c:pt>
                <c:pt idx="8">
                  <c:v>6908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DC3-4B0C-A8A2-24293161B5CF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Lower Manhattan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Sheet1!$A$2:$A$10</c:f>
              <c:strCache>
                <c:ptCount val="9"/>
                <c:pt idx="0">
                  <c:v>Bakery</c:v>
                </c:pt>
                <c:pt idx="1">
                  <c:v>Branded</c:v>
                </c:pt>
                <c:pt idx="2">
                  <c:v>Coffee</c:v>
                </c:pt>
                <c:pt idx="3">
                  <c:v>Coffee beans</c:v>
                </c:pt>
                <c:pt idx="4">
                  <c:v>Drinking Chocolate</c:v>
                </c:pt>
                <c:pt idx="5">
                  <c:v>Flavours</c:v>
                </c:pt>
                <c:pt idx="6">
                  <c:v>Loose Tea</c:v>
                </c:pt>
                <c:pt idx="7">
                  <c:v>Packaged Chocolate</c:v>
                </c:pt>
                <c:pt idx="8">
                  <c:v>Tea</c:v>
                </c:pt>
              </c:strCache>
            </c:strRef>
          </c:cat>
          <c:val>
            <c:numRef>
              <c:f>Sheet1!$D$2:$D$10</c:f>
              <c:numCache>
                <c:formatCode>General</c:formatCode>
                <c:ptCount val="9"/>
                <c:pt idx="0">
                  <c:v>3668</c:v>
                </c:pt>
                <c:pt idx="1">
                  <c:v>275</c:v>
                </c:pt>
                <c:pt idx="2">
                  <c:v>7911</c:v>
                </c:pt>
                <c:pt idx="3">
                  <c:v>446</c:v>
                </c:pt>
                <c:pt idx="4">
                  <c:v>1460</c:v>
                </c:pt>
                <c:pt idx="5">
                  <c:v>1096</c:v>
                </c:pt>
                <c:pt idx="6">
                  <c:v>346</c:v>
                </c:pt>
                <c:pt idx="7">
                  <c:v>158</c:v>
                </c:pt>
                <c:pt idx="8">
                  <c:v>5862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CDC3-4B0C-A8A2-24293161B5C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530751672"/>
        <c:axId val="530750360"/>
      </c:barChart>
      <c:catAx>
        <c:axId val="53075167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30750360"/>
        <c:crosses val="autoZero"/>
        <c:auto val="1"/>
        <c:lblAlgn val="ctr"/>
        <c:lblOffset val="100"/>
        <c:noMultiLvlLbl val="0"/>
      </c:catAx>
      <c:valAx>
        <c:axId val="530750360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3075167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25230014472490003"/>
          <c:y val="0.93523143719184632"/>
          <c:w val="0.49539958790197952"/>
          <c:h val="4.5997375328083998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1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ZA" b="1" dirty="0" smtClean="0"/>
              <a:t>Product Type Breakdown</a:t>
            </a:r>
            <a:endParaRPr lang="en-ZA" b="1" dirty="0"/>
          </a:p>
        </c:rich>
      </c:tx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1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6.6866951210537928E-2"/>
          <c:y val="7.1999698120801994E-2"/>
          <c:w val="0.85861260333112566"/>
          <c:h val="0.60509684824579735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Astoria</c:v>
                </c:pt>
              </c:strCache>
            </c:strRef>
          </c:tx>
          <c:spPr>
            <a:solidFill>
              <a:schemeClr val="accent6"/>
            </a:solidFill>
            <a:ln>
              <a:noFill/>
            </a:ln>
            <a:effectLst/>
          </c:spPr>
          <c:invertIfNegative val="0"/>
          <c:cat>
            <c:strRef>
              <c:f>Sheet1!$A$2:$A$30</c:f>
              <c:strCache>
                <c:ptCount val="29"/>
                <c:pt idx="0">
                  <c:v>Barista Espresso</c:v>
                </c:pt>
                <c:pt idx="1">
                  <c:v>Biscotti</c:v>
                </c:pt>
                <c:pt idx="2">
                  <c:v>Black tea</c:v>
                </c:pt>
                <c:pt idx="3">
                  <c:v>Brewed Black tea</c:v>
                </c:pt>
                <c:pt idx="4">
                  <c:v>Brewed Chai tea</c:v>
                </c:pt>
                <c:pt idx="5">
                  <c:v>Brewed Green tea</c:v>
                </c:pt>
                <c:pt idx="6">
                  <c:v>Brewed herbal tea</c:v>
                </c:pt>
                <c:pt idx="7">
                  <c:v>Chai tea</c:v>
                </c:pt>
                <c:pt idx="8">
                  <c:v>Clothing</c:v>
                </c:pt>
                <c:pt idx="9">
                  <c:v>Drinking Chocolate</c:v>
                </c:pt>
                <c:pt idx="10">
                  <c:v>Drip coffee</c:v>
                </c:pt>
                <c:pt idx="11">
                  <c:v>Espresso Beans</c:v>
                </c:pt>
                <c:pt idx="12">
                  <c:v>Gourmet Beans</c:v>
                </c:pt>
                <c:pt idx="13">
                  <c:v>Gourmet brewed coffee</c:v>
                </c:pt>
                <c:pt idx="14">
                  <c:v>Green beans</c:v>
                </c:pt>
                <c:pt idx="15">
                  <c:v>Green tea</c:v>
                </c:pt>
                <c:pt idx="16">
                  <c:v>Herbal tea</c:v>
                </c:pt>
                <c:pt idx="17">
                  <c:v>Hot chocolate</c:v>
                </c:pt>
                <c:pt idx="18">
                  <c:v>House blend Beans</c:v>
                </c:pt>
                <c:pt idx="19">
                  <c:v>Housewares</c:v>
                </c:pt>
                <c:pt idx="20">
                  <c:v>Organic Beans</c:v>
                </c:pt>
                <c:pt idx="21">
                  <c:v>Organic brewed coffee</c:v>
                </c:pt>
                <c:pt idx="22">
                  <c:v>Organic Chocolate</c:v>
                </c:pt>
                <c:pt idx="23">
                  <c:v>Pastry</c:v>
                </c:pt>
                <c:pt idx="24">
                  <c:v>Premium Beans</c:v>
                </c:pt>
                <c:pt idx="25">
                  <c:v>Premium brewed coffee</c:v>
                </c:pt>
                <c:pt idx="26">
                  <c:v>Regular syrup</c:v>
                </c:pt>
                <c:pt idx="27">
                  <c:v>Scone</c:v>
                </c:pt>
                <c:pt idx="28">
                  <c:v>Sugar free syrup</c:v>
                </c:pt>
              </c:strCache>
            </c:strRef>
          </c:cat>
          <c:val>
            <c:numRef>
              <c:f>Sheet1!$B$2:$B$30</c:f>
              <c:numCache>
                <c:formatCode>General</c:formatCode>
                <c:ptCount val="29"/>
                <c:pt idx="0">
                  <c:v>28223</c:v>
                </c:pt>
                <c:pt idx="1">
                  <c:v>6932</c:v>
                </c:pt>
                <c:pt idx="2">
                  <c:v>765</c:v>
                </c:pt>
                <c:pt idx="3">
                  <c:v>16386</c:v>
                </c:pt>
                <c:pt idx="4">
                  <c:v>27658</c:v>
                </c:pt>
                <c:pt idx="5">
                  <c:v>8101</c:v>
                </c:pt>
                <c:pt idx="6">
                  <c:v>16502</c:v>
                </c:pt>
                <c:pt idx="7">
                  <c:v>1201</c:v>
                </c:pt>
                <c:pt idx="8">
                  <c:v>3083</c:v>
                </c:pt>
                <c:pt idx="9">
                  <c:v>694</c:v>
                </c:pt>
                <c:pt idx="10">
                  <c:v>11530</c:v>
                </c:pt>
                <c:pt idx="11">
                  <c:v>1691</c:v>
                </c:pt>
                <c:pt idx="12">
                  <c:v>2430</c:v>
                </c:pt>
                <c:pt idx="13">
                  <c:v>24010</c:v>
                </c:pt>
                <c:pt idx="14">
                  <c:v>400</c:v>
                </c:pt>
                <c:pt idx="15">
                  <c:v>382</c:v>
                </c:pt>
                <c:pt idx="16">
                  <c:v>873</c:v>
                </c:pt>
                <c:pt idx="17">
                  <c:v>26743</c:v>
                </c:pt>
                <c:pt idx="18">
                  <c:v>828</c:v>
                </c:pt>
                <c:pt idx="19">
                  <c:v>2374</c:v>
                </c:pt>
                <c:pt idx="20">
                  <c:v>1857</c:v>
                </c:pt>
                <c:pt idx="21">
                  <c:v>12696</c:v>
                </c:pt>
                <c:pt idx="22">
                  <c:v>399</c:v>
                </c:pt>
                <c:pt idx="23">
                  <c:v>8574</c:v>
                </c:pt>
                <c:pt idx="24">
                  <c:v>3045</c:v>
                </c:pt>
                <c:pt idx="25">
                  <c:v>13963</c:v>
                </c:pt>
                <c:pt idx="26">
                  <c:v>1344</c:v>
                </c:pt>
                <c:pt idx="27">
                  <c:v>11830</c:v>
                </c:pt>
                <c:pt idx="28">
                  <c:v>472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DC3-4B0C-A8A2-24293161B5C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Hell's Kitchen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Sheet1!$A$2:$A$30</c:f>
              <c:strCache>
                <c:ptCount val="29"/>
                <c:pt idx="0">
                  <c:v>Barista Espresso</c:v>
                </c:pt>
                <c:pt idx="1">
                  <c:v>Biscotti</c:v>
                </c:pt>
                <c:pt idx="2">
                  <c:v>Black tea</c:v>
                </c:pt>
                <c:pt idx="3">
                  <c:v>Brewed Black tea</c:v>
                </c:pt>
                <c:pt idx="4">
                  <c:v>Brewed Chai tea</c:v>
                </c:pt>
                <c:pt idx="5">
                  <c:v>Brewed Green tea</c:v>
                </c:pt>
                <c:pt idx="6">
                  <c:v>Brewed herbal tea</c:v>
                </c:pt>
                <c:pt idx="7">
                  <c:v>Chai tea</c:v>
                </c:pt>
                <c:pt idx="8">
                  <c:v>Clothing</c:v>
                </c:pt>
                <c:pt idx="9">
                  <c:v>Drinking Chocolate</c:v>
                </c:pt>
                <c:pt idx="10">
                  <c:v>Drip coffee</c:v>
                </c:pt>
                <c:pt idx="11">
                  <c:v>Espresso Beans</c:v>
                </c:pt>
                <c:pt idx="12">
                  <c:v>Gourmet Beans</c:v>
                </c:pt>
                <c:pt idx="13">
                  <c:v>Gourmet brewed coffee</c:v>
                </c:pt>
                <c:pt idx="14">
                  <c:v>Green beans</c:v>
                </c:pt>
                <c:pt idx="15">
                  <c:v>Green tea</c:v>
                </c:pt>
                <c:pt idx="16">
                  <c:v>Herbal tea</c:v>
                </c:pt>
                <c:pt idx="17">
                  <c:v>Hot chocolate</c:v>
                </c:pt>
                <c:pt idx="18">
                  <c:v>House blend Beans</c:v>
                </c:pt>
                <c:pt idx="19">
                  <c:v>Housewares</c:v>
                </c:pt>
                <c:pt idx="20">
                  <c:v>Organic Beans</c:v>
                </c:pt>
                <c:pt idx="21">
                  <c:v>Organic brewed coffee</c:v>
                </c:pt>
                <c:pt idx="22">
                  <c:v>Organic Chocolate</c:v>
                </c:pt>
                <c:pt idx="23">
                  <c:v>Pastry</c:v>
                </c:pt>
                <c:pt idx="24">
                  <c:v>Premium Beans</c:v>
                </c:pt>
                <c:pt idx="25">
                  <c:v>Premium brewed coffee</c:v>
                </c:pt>
                <c:pt idx="26">
                  <c:v>Regular syrup</c:v>
                </c:pt>
                <c:pt idx="27">
                  <c:v>Scone</c:v>
                </c:pt>
                <c:pt idx="28">
                  <c:v>Sugar free syrup</c:v>
                </c:pt>
              </c:strCache>
            </c:strRef>
          </c:cat>
          <c:val>
            <c:numRef>
              <c:f>Sheet1!$C$2:$C$30</c:f>
              <c:numCache>
                <c:formatCode>General</c:formatCode>
                <c:ptCount val="29"/>
                <c:pt idx="0">
                  <c:v>32692</c:v>
                </c:pt>
                <c:pt idx="1">
                  <c:v>6566</c:v>
                </c:pt>
                <c:pt idx="2">
                  <c:v>1071</c:v>
                </c:pt>
                <c:pt idx="3">
                  <c:v>15806</c:v>
                </c:pt>
                <c:pt idx="4">
                  <c:v>25860</c:v>
                </c:pt>
                <c:pt idx="5">
                  <c:v>8335</c:v>
                </c:pt>
                <c:pt idx="6">
                  <c:v>15483</c:v>
                </c:pt>
                <c:pt idx="7">
                  <c:v>1755</c:v>
                </c:pt>
                <c:pt idx="8">
                  <c:v>672</c:v>
                </c:pt>
                <c:pt idx="9">
                  <c:v>1039</c:v>
                </c:pt>
                <c:pt idx="10">
                  <c:v>10851</c:v>
                </c:pt>
                <c:pt idx="11">
                  <c:v>2551</c:v>
                </c:pt>
                <c:pt idx="12">
                  <c:v>2154</c:v>
                </c:pt>
                <c:pt idx="13">
                  <c:v>23168</c:v>
                </c:pt>
                <c:pt idx="14">
                  <c:v>590</c:v>
                </c:pt>
                <c:pt idx="15">
                  <c:v>402</c:v>
                </c:pt>
                <c:pt idx="16">
                  <c:v>1269</c:v>
                </c:pt>
                <c:pt idx="17">
                  <c:v>24003</c:v>
                </c:pt>
                <c:pt idx="18">
                  <c:v>1602</c:v>
                </c:pt>
                <c:pt idx="19">
                  <c:v>1270</c:v>
                </c:pt>
                <c:pt idx="20">
                  <c:v>3339</c:v>
                </c:pt>
                <c:pt idx="21">
                  <c:v>13177</c:v>
                </c:pt>
                <c:pt idx="22">
                  <c:v>652</c:v>
                </c:pt>
                <c:pt idx="23">
                  <c:v>8736</c:v>
                </c:pt>
                <c:pt idx="24">
                  <c:v>8440</c:v>
                </c:pt>
                <c:pt idx="25">
                  <c:v>11933</c:v>
                </c:pt>
                <c:pt idx="26">
                  <c:v>2254</c:v>
                </c:pt>
                <c:pt idx="27">
                  <c:v>12774</c:v>
                </c:pt>
                <c:pt idx="28">
                  <c:v>746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DC3-4B0C-A8A2-24293161B5CF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Lower Manhattan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Sheet1!$A$2:$A$30</c:f>
              <c:strCache>
                <c:ptCount val="29"/>
                <c:pt idx="0">
                  <c:v>Barista Espresso</c:v>
                </c:pt>
                <c:pt idx="1">
                  <c:v>Biscotti</c:v>
                </c:pt>
                <c:pt idx="2">
                  <c:v>Black tea</c:v>
                </c:pt>
                <c:pt idx="3">
                  <c:v>Brewed Black tea</c:v>
                </c:pt>
                <c:pt idx="4">
                  <c:v>Brewed Chai tea</c:v>
                </c:pt>
                <c:pt idx="5">
                  <c:v>Brewed Green tea</c:v>
                </c:pt>
                <c:pt idx="6">
                  <c:v>Brewed herbal tea</c:v>
                </c:pt>
                <c:pt idx="7">
                  <c:v>Chai tea</c:v>
                </c:pt>
                <c:pt idx="8">
                  <c:v>Clothing</c:v>
                </c:pt>
                <c:pt idx="9">
                  <c:v>Drinking Chocolate</c:v>
                </c:pt>
                <c:pt idx="10">
                  <c:v>Drip coffee</c:v>
                </c:pt>
                <c:pt idx="11">
                  <c:v>Espresso Beans</c:v>
                </c:pt>
                <c:pt idx="12">
                  <c:v>Gourmet Beans</c:v>
                </c:pt>
                <c:pt idx="13">
                  <c:v>Gourmet brewed coffee</c:v>
                </c:pt>
                <c:pt idx="14">
                  <c:v>Green beans</c:v>
                </c:pt>
                <c:pt idx="15">
                  <c:v>Green tea</c:v>
                </c:pt>
                <c:pt idx="16">
                  <c:v>Herbal tea</c:v>
                </c:pt>
                <c:pt idx="17">
                  <c:v>Hot chocolate</c:v>
                </c:pt>
                <c:pt idx="18">
                  <c:v>House blend Beans</c:v>
                </c:pt>
                <c:pt idx="19">
                  <c:v>Housewares</c:v>
                </c:pt>
                <c:pt idx="20">
                  <c:v>Organic Beans</c:v>
                </c:pt>
                <c:pt idx="21">
                  <c:v>Organic brewed coffee</c:v>
                </c:pt>
                <c:pt idx="22">
                  <c:v>Organic Chocolate</c:v>
                </c:pt>
                <c:pt idx="23">
                  <c:v>Pastry</c:v>
                </c:pt>
                <c:pt idx="24">
                  <c:v>Premium Beans</c:v>
                </c:pt>
                <c:pt idx="25">
                  <c:v>Premium brewed coffee</c:v>
                </c:pt>
                <c:pt idx="26">
                  <c:v>Regular syrup</c:v>
                </c:pt>
                <c:pt idx="27">
                  <c:v>Scone</c:v>
                </c:pt>
                <c:pt idx="28">
                  <c:v>Sugar free syrup</c:v>
                </c:pt>
              </c:strCache>
            </c:strRef>
          </c:cat>
          <c:val>
            <c:numRef>
              <c:f>Sheet1!$D$2:$D$30</c:f>
              <c:numCache>
                <c:formatCode>General</c:formatCode>
                <c:ptCount val="29"/>
                <c:pt idx="0">
                  <c:v>31296</c:v>
                </c:pt>
                <c:pt idx="1">
                  <c:v>6999</c:v>
                </c:pt>
                <c:pt idx="2">
                  <c:v>891</c:v>
                </c:pt>
                <c:pt idx="3">
                  <c:v>16383</c:v>
                </c:pt>
                <c:pt idx="4">
                  <c:v>24203</c:v>
                </c:pt>
                <c:pt idx="5">
                  <c:v>7743</c:v>
                </c:pt>
                <c:pt idx="6">
                  <c:v>16184</c:v>
                </c:pt>
                <c:pt idx="7">
                  <c:v>1421</c:v>
                </c:pt>
                <c:pt idx="8">
                  <c:v>2408</c:v>
                </c:pt>
                <c:pt idx="9">
                  <c:v>923</c:v>
                </c:pt>
                <c:pt idx="10">
                  <c:v>9912</c:v>
                </c:pt>
                <c:pt idx="11">
                  <c:v>1314</c:v>
                </c:pt>
                <c:pt idx="12">
                  <c:v>2214</c:v>
                </c:pt>
                <c:pt idx="13">
                  <c:v>23374</c:v>
                </c:pt>
                <c:pt idx="14">
                  <c:v>350</c:v>
                </c:pt>
                <c:pt idx="15">
                  <c:v>658</c:v>
                </c:pt>
                <c:pt idx="16">
                  <c:v>603</c:v>
                </c:pt>
                <c:pt idx="17">
                  <c:v>22834</c:v>
                </c:pt>
                <c:pt idx="18">
                  <c:v>864</c:v>
                </c:pt>
                <c:pt idx="19">
                  <c:v>3800</c:v>
                </c:pt>
                <c:pt idx="20">
                  <c:v>3389</c:v>
                </c:pt>
                <c:pt idx="21">
                  <c:v>12070</c:v>
                </c:pt>
                <c:pt idx="22">
                  <c:v>706</c:v>
                </c:pt>
                <c:pt idx="23">
                  <c:v>9153</c:v>
                </c:pt>
                <c:pt idx="24">
                  <c:v>3135</c:v>
                </c:pt>
                <c:pt idx="25">
                  <c:v>12913</c:v>
                </c:pt>
                <c:pt idx="26">
                  <c:v>2692</c:v>
                </c:pt>
                <c:pt idx="27">
                  <c:v>12871</c:v>
                </c:pt>
                <c:pt idx="28">
                  <c:v>1186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CDC3-4B0C-A8A2-24293161B5C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100"/>
        <c:axId val="530751672"/>
        <c:axId val="530750360"/>
      </c:barChart>
      <c:catAx>
        <c:axId val="53075167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30750360"/>
        <c:crosses val="autoZero"/>
        <c:auto val="1"/>
        <c:lblAlgn val="ctr"/>
        <c:lblOffset val="100"/>
        <c:noMultiLvlLbl val="0"/>
      </c:catAx>
      <c:valAx>
        <c:axId val="530750360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30751672"/>
        <c:crosses val="autoZero"/>
        <c:crossBetween val="between"/>
      </c:valAx>
      <c:spPr>
        <a:solidFill>
          <a:schemeClr val="accent6">
            <a:lumMod val="60000"/>
            <a:lumOff val="40000"/>
          </a:schemeClr>
        </a:solidFill>
        <a:ln w="25400">
          <a:noFill/>
        </a:ln>
        <a:effectLst/>
      </c:spPr>
    </c:plotArea>
    <c:legend>
      <c:legendPos val="b"/>
      <c:layout>
        <c:manualLayout>
          <c:xMode val="edge"/>
          <c:yMode val="edge"/>
          <c:x val="0.25230014472490003"/>
          <c:y val="0.91206517041112201"/>
          <c:w val="0.49539958790197952"/>
          <c:h val="4.4025520879548655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15.11.2025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274977763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339910267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316738557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chart" Target="../charts/chart4.xml"/><Relationship Id="rId5" Type="http://schemas.openxmlformats.org/officeDocument/2006/relationships/image" Target="../media/image13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18" Type="http://schemas.openxmlformats.org/officeDocument/2006/relationships/image" Target="../media/image96.svg"/><Relationship Id="rId3" Type="http://schemas.openxmlformats.org/officeDocument/2006/relationships/hyperlink" Target="mailto:tkndlovu111@gmail.com" TargetMode="External"/><Relationship Id="rId17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6" Type="http://schemas.openxmlformats.org/officeDocument/2006/relationships/image" Target="../media/image94.svg"/><Relationship Id="rId20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15" Type="http://schemas.openxmlformats.org/officeDocument/2006/relationships/image" Target="../media/image7.png"/><Relationship Id="rId19" Type="http://schemas.openxmlformats.org/officeDocument/2006/relationships/image" Target="../media/image9.png"/><Relationship Id="rId4" Type="http://schemas.openxmlformats.org/officeDocument/2006/relationships/image" Target="../media/image6.png"/><Relationship Id="rId14" Type="http://schemas.openxmlformats.org/officeDocument/2006/relationships/image" Target="../media/image92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8"/>
          <p:cNvSpPr txBox="1"/>
          <p:nvPr/>
        </p:nvSpPr>
        <p:spPr>
          <a:xfrm>
            <a:off x="1517875" y="3554625"/>
            <a:ext cx="7691550" cy="3028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999"/>
              </a:lnSpc>
            </a:pPr>
            <a:r>
              <a:rPr lang="en-US" sz="9999">
                <a:solidFill>
                  <a:srgbClr val="1B3627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Bright Coffee Shop analysis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517875" y="6766425"/>
            <a:ext cx="4566750" cy="1974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764"/>
              </a:lnSpc>
            </a:pPr>
            <a:r>
              <a:rPr lang="en-US" sz="3200" b="1" spc="65" dirty="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Total Revenue: </a:t>
            </a:r>
          </a:p>
          <a:p>
            <a:pPr algn="ctr">
              <a:lnSpc>
                <a:spcPts val="5764"/>
              </a:lnSpc>
            </a:pPr>
            <a:r>
              <a:rPr lang="en-ZA" sz="2800" b="1" dirty="0"/>
              <a:t> R 706 665,00 </a:t>
            </a:r>
            <a:endParaRPr lang="en-US" sz="2800" b="1" spc="65" dirty="0">
              <a:solidFill>
                <a:srgbClr val="000000"/>
              </a:solidFill>
              <a:latin typeface="Open Sans Bold"/>
              <a:ea typeface="Open Sans Bold"/>
              <a:cs typeface="Open Sans Bold"/>
              <a:sym typeface="Open Sans Bold"/>
            </a:endParaRPr>
          </a:p>
          <a:p>
            <a:pPr algn="l">
              <a:lnSpc>
                <a:spcPts val="3840"/>
              </a:lnSpc>
            </a:pPr>
            <a:endParaRPr lang="en-US" sz="3200" dirty="0">
              <a:solidFill>
                <a:srgbClr val="1B3627"/>
              </a:solidFill>
              <a:latin typeface="Andika"/>
              <a:ea typeface="Andika"/>
              <a:cs typeface="Andika"/>
              <a:sym typeface="Andika"/>
            </a:endParaRPr>
          </a:p>
        </p:txBody>
      </p:sp>
      <p:grpSp>
        <p:nvGrpSpPr>
          <p:cNvPr id="10" name="Group 10"/>
          <p:cNvGrpSpPr/>
          <p:nvPr/>
        </p:nvGrpSpPr>
        <p:grpSpPr>
          <a:xfrm>
            <a:off x="12719691" y="5672685"/>
            <a:ext cx="815838" cy="266622"/>
            <a:chOff x="0" y="0"/>
            <a:chExt cx="1087784" cy="355496"/>
          </a:xfrm>
        </p:grpSpPr>
        <p:sp>
          <p:nvSpPr>
            <p:cNvPr id="11" name="Freeform 11"/>
            <p:cNvSpPr/>
            <p:nvPr/>
          </p:nvSpPr>
          <p:spPr>
            <a:xfrm>
              <a:off x="12700" y="12700"/>
              <a:ext cx="1062355" cy="330073"/>
            </a:xfrm>
            <a:custGeom>
              <a:avLst/>
              <a:gdLst/>
              <a:ahLst/>
              <a:cxnLst/>
              <a:rect l="l" t="t" r="r" b="b"/>
              <a:pathLst>
                <a:path w="1062355" h="330073">
                  <a:moveTo>
                    <a:pt x="0" y="330073"/>
                  </a:moveTo>
                  <a:cubicBezTo>
                    <a:pt x="324358" y="144399"/>
                    <a:pt x="689864" y="30861"/>
                    <a:pt x="1062355" y="0"/>
                  </a:cubicBezTo>
                </a:path>
              </a:pathLst>
            </a:custGeom>
            <a:solidFill>
              <a:srgbClr val="D9DEC2"/>
            </a:solidFill>
          </p:spPr>
        </p:sp>
        <p:sp>
          <p:nvSpPr>
            <p:cNvPr id="12" name="Freeform 12"/>
            <p:cNvSpPr/>
            <p:nvPr/>
          </p:nvSpPr>
          <p:spPr>
            <a:xfrm>
              <a:off x="6350" y="0"/>
              <a:ext cx="1069721" cy="353822"/>
            </a:xfrm>
            <a:custGeom>
              <a:avLst/>
              <a:gdLst/>
              <a:ahLst/>
              <a:cxnLst/>
              <a:rect l="l" t="t" r="r" b="b"/>
              <a:pathLst>
                <a:path w="1069721" h="353822">
                  <a:moveTo>
                    <a:pt x="0" y="331724"/>
                  </a:moveTo>
                  <a:cubicBezTo>
                    <a:pt x="326136" y="145161"/>
                    <a:pt x="693293" y="31115"/>
                    <a:pt x="1067689" y="0"/>
                  </a:cubicBezTo>
                  <a:lnTo>
                    <a:pt x="1069721" y="25400"/>
                  </a:lnTo>
                  <a:cubicBezTo>
                    <a:pt x="699135" y="56134"/>
                    <a:pt x="335407" y="169037"/>
                    <a:pt x="12700" y="353822"/>
                  </a:cubicBezTo>
                  <a:close/>
                </a:path>
              </a:pathLst>
            </a:custGeom>
            <a:solidFill>
              <a:srgbClr val="1B3627"/>
            </a:solidFill>
          </p:spPr>
        </p:sp>
      </p:grpSp>
      <p:grpSp>
        <p:nvGrpSpPr>
          <p:cNvPr id="13" name="Group 13"/>
          <p:cNvGrpSpPr/>
          <p:nvPr/>
        </p:nvGrpSpPr>
        <p:grpSpPr>
          <a:xfrm>
            <a:off x="12748377" y="5796925"/>
            <a:ext cx="408136" cy="179576"/>
            <a:chOff x="0" y="0"/>
            <a:chExt cx="544181" cy="239435"/>
          </a:xfrm>
        </p:grpSpPr>
        <p:sp>
          <p:nvSpPr>
            <p:cNvPr id="14" name="Freeform 14"/>
            <p:cNvSpPr/>
            <p:nvPr/>
          </p:nvSpPr>
          <p:spPr>
            <a:xfrm>
              <a:off x="12700" y="12700"/>
              <a:ext cx="518795" cy="213995"/>
            </a:xfrm>
            <a:custGeom>
              <a:avLst/>
              <a:gdLst/>
              <a:ahLst/>
              <a:cxnLst/>
              <a:rect l="l" t="t" r="r" b="b"/>
              <a:pathLst>
                <a:path w="518795" h="213995">
                  <a:moveTo>
                    <a:pt x="0" y="213995"/>
                  </a:moveTo>
                  <a:cubicBezTo>
                    <a:pt x="157734" y="112395"/>
                    <a:pt x="339598" y="55626"/>
                    <a:pt x="518795" y="0"/>
                  </a:cubicBezTo>
                </a:path>
              </a:pathLst>
            </a:custGeom>
            <a:solidFill>
              <a:srgbClr val="D9DEC2"/>
            </a:solidFill>
          </p:spPr>
        </p:sp>
        <p:sp>
          <p:nvSpPr>
            <p:cNvPr id="15" name="Freeform 15"/>
            <p:cNvSpPr/>
            <p:nvPr/>
          </p:nvSpPr>
          <p:spPr>
            <a:xfrm>
              <a:off x="5842" y="508"/>
              <a:ext cx="529336" cy="236855"/>
            </a:xfrm>
            <a:custGeom>
              <a:avLst/>
              <a:gdLst/>
              <a:ahLst/>
              <a:cxnLst/>
              <a:rect l="l" t="t" r="r" b="b"/>
              <a:pathLst>
                <a:path w="529336" h="236855">
                  <a:moveTo>
                    <a:pt x="0" y="215519"/>
                  </a:moveTo>
                  <a:cubicBezTo>
                    <a:pt x="159512" y="112776"/>
                    <a:pt x="343027" y="55626"/>
                    <a:pt x="521843" y="0"/>
                  </a:cubicBezTo>
                  <a:lnTo>
                    <a:pt x="529336" y="24257"/>
                  </a:lnTo>
                  <a:cubicBezTo>
                    <a:pt x="349885" y="80010"/>
                    <a:pt x="169799" y="136271"/>
                    <a:pt x="13716" y="236855"/>
                  </a:cubicBezTo>
                  <a:close/>
                </a:path>
              </a:pathLst>
            </a:custGeom>
            <a:solidFill>
              <a:srgbClr val="1B3627"/>
            </a:solidFill>
          </p:spPr>
        </p:sp>
      </p:grp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77792" y="0"/>
            <a:ext cx="7888908" cy="10486029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944072">
            <a:off x="12976305" y="6069237"/>
            <a:ext cx="4188810" cy="3599647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690240" y="4468755"/>
            <a:ext cx="792549" cy="774259"/>
          </a:xfrm>
          <a:prstGeom prst="rect">
            <a:avLst/>
          </a:prstGeom>
        </p:spPr>
      </p:pic>
      <p:pic>
        <p:nvPicPr>
          <p:cNvPr id="20" name="Picture 1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29324" y="5062771"/>
            <a:ext cx="792549" cy="774259"/>
          </a:xfrm>
          <a:prstGeom prst="rect">
            <a:avLst/>
          </a:prstGeom>
        </p:spPr>
      </p:pic>
      <p:pic>
        <p:nvPicPr>
          <p:cNvPr id="21" name="Picture 2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152860" y="3390900"/>
            <a:ext cx="792549" cy="77425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10"/>
          <p:cNvSpPr txBox="1"/>
          <p:nvPr/>
        </p:nvSpPr>
        <p:spPr>
          <a:xfrm>
            <a:off x="8464329" y="4274862"/>
            <a:ext cx="9137871" cy="534761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21151" lvl="1" indent="-260575" algn="just">
              <a:lnSpc>
                <a:spcPts val="3379"/>
              </a:lnSpc>
              <a:buFont typeface="Arial"/>
              <a:buChar char="•"/>
            </a:pPr>
            <a:r>
              <a:rPr lang="en-US" sz="2413" spc="26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Revenue is evenly distributed across locations, shows consistent performance across all areas. </a:t>
            </a:r>
          </a:p>
          <a:p>
            <a:pPr marL="521151" lvl="1" indent="-260575" algn="just">
              <a:lnSpc>
                <a:spcPts val="3379"/>
              </a:lnSpc>
              <a:buFont typeface="Arial"/>
              <a:buChar char="•"/>
            </a:pPr>
            <a:r>
              <a:rPr lang="en-US" sz="2413" spc="26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All three locations have their highest revenue in the morning. Nighttime performs</a:t>
            </a:r>
          </a:p>
          <a:p>
            <a:pPr algn="just">
              <a:lnSpc>
                <a:spcPts val="3379"/>
              </a:lnSpc>
            </a:pPr>
            <a:r>
              <a:rPr lang="en-US" sz="2413" spc="26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      the worst, Lower Manhattan with extremely low night revenue</a:t>
            </a:r>
          </a:p>
          <a:p>
            <a:pPr marL="542740" lvl="1" indent="-271370">
              <a:lnSpc>
                <a:spcPts val="3519"/>
              </a:lnSpc>
              <a:buFont typeface="Arial"/>
              <a:buChar char="•"/>
            </a:pPr>
            <a:r>
              <a:rPr lang="en-US" sz="2513" spc="27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Morning is clearly the most profitable period, contributing more than half of total revenue.</a:t>
            </a:r>
          </a:p>
          <a:p>
            <a:pPr marL="542740" lvl="1" indent="-271370">
              <a:lnSpc>
                <a:spcPts val="3519"/>
              </a:lnSpc>
              <a:buFont typeface="Arial"/>
              <a:buChar char="•"/>
            </a:pPr>
            <a:r>
              <a:rPr lang="en-US" sz="2513" spc="27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Afternoon and Evening contribute moderately.</a:t>
            </a:r>
          </a:p>
          <a:p>
            <a:pPr marL="542740" lvl="1" indent="-271370">
              <a:lnSpc>
                <a:spcPts val="3519"/>
              </a:lnSpc>
              <a:buFont typeface="Arial"/>
              <a:buChar char="•"/>
            </a:pPr>
            <a:r>
              <a:rPr lang="en-US" sz="2513" spc="27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Highest earning location: Hell’s Kitchen, Lowest earning location: Lower Manhattan </a:t>
            </a:r>
          </a:p>
          <a:p>
            <a:pPr algn="r">
              <a:lnSpc>
                <a:spcPts val="3840"/>
              </a:lnSpc>
            </a:pPr>
            <a:endParaRPr lang="en-US" sz="3200" dirty="0">
              <a:solidFill>
                <a:srgbClr val="1B3627"/>
              </a:solidFill>
              <a:latin typeface="Andika"/>
              <a:ea typeface="Andika"/>
              <a:cs typeface="Andika"/>
              <a:sym typeface="Andika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9677400" y="2095500"/>
            <a:ext cx="497256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b="1" dirty="0" smtClean="0">
                <a:solidFill>
                  <a:srgbClr val="000000"/>
                </a:solidFill>
                <a:latin typeface="Monotype Corsiva" panose="03010101010201010101" pitchFamily="66" charset="0"/>
                <a:ea typeface="Rogue"/>
                <a:cs typeface="Rogue"/>
                <a:sym typeface="Rogue"/>
              </a:rPr>
              <a:t>Summary Analysis</a:t>
            </a:r>
            <a:endParaRPr lang="en-US" sz="5400" b="1" dirty="0">
              <a:solidFill>
                <a:srgbClr val="000000"/>
              </a:solidFill>
              <a:latin typeface="Monotype Corsiva" panose="03010101010201010101" pitchFamily="66" charset="0"/>
              <a:ea typeface="Rogue"/>
              <a:cs typeface="Rogue"/>
              <a:sym typeface="Rogue"/>
            </a:endParaRPr>
          </a:p>
          <a:p>
            <a:endParaRPr lang="en-ZA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5862" y="-24455"/>
            <a:ext cx="6998815" cy="1029094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Chart 12"/>
          <p:cNvGraphicFramePr/>
          <p:nvPr>
            <p:extLst>
              <p:ext uri="{D42A27DB-BD31-4B8C-83A1-F6EECF244321}">
                <p14:modId xmlns:p14="http://schemas.microsoft.com/office/powerpoint/2010/main" val="2017942938"/>
              </p:ext>
            </p:extLst>
          </p:nvPr>
        </p:nvGraphicFramePr>
        <p:xfrm>
          <a:off x="228600" y="1155700"/>
          <a:ext cx="8321074" cy="8128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9" name="TextBox 18"/>
          <p:cNvSpPr txBox="1"/>
          <p:nvPr/>
        </p:nvSpPr>
        <p:spPr>
          <a:xfrm>
            <a:off x="9601200" y="5219700"/>
            <a:ext cx="8229600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Morning dominates revenue</a:t>
            </a:r>
            <a:r>
              <a:rPr lang="en-US" dirty="0"/>
              <a:t> — it contributes </a:t>
            </a:r>
            <a:r>
              <a:rPr lang="en-US" b="1" dirty="0"/>
              <a:t>about 50–60%</a:t>
            </a:r>
            <a:r>
              <a:rPr lang="en-US" dirty="0"/>
              <a:t> of total sales at every location</a:t>
            </a:r>
            <a:r>
              <a:rPr lang="en-US" dirty="0" smtClean="0"/>
              <a:t>.</a:t>
            </a:r>
          </a:p>
          <a:p>
            <a:r>
              <a:rPr lang="en-US" b="1" dirty="0"/>
              <a:t>Afternoon</a:t>
            </a:r>
            <a:r>
              <a:rPr lang="en-US" dirty="0"/>
              <a:t> performance is moderate — possible lunch-hour or early shopping </a:t>
            </a:r>
            <a:r>
              <a:rPr lang="en-US" dirty="0" smtClean="0"/>
              <a:t>activity</a:t>
            </a:r>
          </a:p>
          <a:p>
            <a:r>
              <a:rPr lang="en-US" b="1" dirty="0"/>
              <a:t>Evening</a:t>
            </a:r>
            <a:r>
              <a:rPr lang="en-US" dirty="0"/>
              <a:t> periods could be a growth opportunity if promotions or events are introduced</a:t>
            </a:r>
            <a:endParaRPr lang="en-US" dirty="0" smtClean="0"/>
          </a:p>
          <a:p>
            <a:r>
              <a:rPr lang="en-US" b="1" dirty="0"/>
              <a:t>Night-time sales are very low</a:t>
            </a:r>
            <a:r>
              <a:rPr lang="en-US" dirty="0"/>
              <a:t>, especially in </a:t>
            </a:r>
            <a:r>
              <a:rPr lang="en-US" b="1" dirty="0"/>
              <a:t>Lower Manhattan</a:t>
            </a:r>
            <a:r>
              <a:rPr lang="en-US" dirty="0"/>
              <a:t>, which is nearly </a:t>
            </a:r>
            <a:r>
              <a:rPr lang="en-US" dirty="0" smtClean="0"/>
              <a:t>inactive</a:t>
            </a:r>
          </a:p>
          <a:p>
            <a:endParaRPr lang="en-US" dirty="0" smtClean="0"/>
          </a:p>
          <a:p>
            <a:r>
              <a:rPr lang="en-ZA" b="1" dirty="0"/>
              <a:t>Capitalize on Morning </a:t>
            </a:r>
            <a:r>
              <a:rPr lang="en-ZA" b="1" dirty="0" smtClean="0"/>
              <a:t>Strength</a:t>
            </a:r>
          </a:p>
          <a:p>
            <a:r>
              <a:rPr lang="en-US" dirty="0"/>
              <a:t>Introduce </a:t>
            </a:r>
            <a:r>
              <a:rPr lang="en-US" b="1" dirty="0"/>
              <a:t>breakfast combos, coffee loyalty programs, or quick-service promotions</a:t>
            </a:r>
            <a:r>
              <a:rPr lang="en-US" dirty="0"/>
              <a:t> to retain and grow this base.</a:t>
            </a:r>
            <a:endParaRPr lang="en-ZA" b="1" dirty="0" smtClean="0"/>
          </a:p>
          <a:p>
            <a:endParaRPr lang="en-ZA" b="1" dirty="0"/>
          </a:p>
          <a:p>
            <a:r>
              <a:rPr lang="en-ZA" b="1" dirty="0"/>
              <a:t>Operational </a:t>
            </a:r>
            <a:r>
              <a:rPr lang="en-ZA" b="1" dirty="0" smtClean="0"/>
              <a:t>Adjustments</a:t>
            </a:r>
          </a:p>
          <a:p>
            <a:r>
              <a:rPr lang="en-US" dirty="0"/>
              <a:t>Allocate </a:t>
            </a:r>
            <a:r>
              <a:rPr lang="en-US" b="1" dirty="0"/>
              <a:t>more staff</a:t>
            </a:r>
            <a:r>
              <a:rPr lang="en-US" dirty="0"/>
              <a:t> during morning peaks and </a:t>
            </a:r>
            <a:r>
              <a:rPr lang="en-US" b="1" dirty="0"/>
              <a:t>reduce night shifts</a:t>
            </a:r>
            <a:r>
              <a:rPr lang="en-US" dirty="0"/>
              <a:t> where demand is minimal</a:t>
            </a:r>
            <a:r>
              <a:rPr lang="en-US" dirty="0" smtClean="0"/>
              <a:t>.</a:t>
            </a:r>
          </a:p>
          <a:p>
            <a:r>
              <a:rPr lang="en-US" dirty="0"/>
              <a:t>Consider </a:t>
            </a:r>
            <a:r>
              <a:rPr lang="en-US" b="1" dirty="0"/>
              <a:t>menu variation by time</a:t>
            </a:r>
            <a:r>
              <a:rPr lang="en-US" dirty="0"/>
              <a:t> — lighter items in the morning, fuller meals in the afternoon/evening.</a:t>
            </a:r>
            <a:endParaRPr lang="en-US" dirty="0" smtClean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80639" y="1562100"/>
            <a:ext cx="792549" cy="774259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649200" y="2427294"/>
            <a:ext cx="792549" cy="774259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734800" y="1735187"/>
            <a:ext cx="792549" cy="77425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18"/>
          <p:cNvSpPr txBox="1"/>
          <p:nvPr/>
        </p:nvSpPr>
        <p:spPr>
          <a:xfrm>
            <a:off x="9677400" y="5372100"/>
            <a:ext cx="8610599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Hell’s Kitchen</a:t>
            </a:r>
            <a:r>
              <a:rPr lang="en-US" dirty="0"/>
              <a:t> leads in total revenue overall</a:t>
            </a:r>
            <a:r>
              <a:rPr lang="en-US" dirty="0" smtClean="0"/>
              <a:t>.</a:t>
            </a:r>
          </a:p>
          <a:p>
            <a:r>
              <a:rPr lang="en-US" b="1" dirty="0"/>
              <a:t>Astoria</a:t>
            </a:r>
            <a:r>
              <a:rPr lang="en-US" dirty="0"/>
              <a:t> and </a:t>
            </a:r>
            <a:r>
              <a:rPr lang="en-US" b="1" dirty="0"/>
              <a:t>Lower Manhattan</a:t>
            </a:r>
            <a:r>
              <a:rPr lang="en-US" dirty="0"/>
              <a:t> are close, but both have slight drops midweek or on weekends</a:t>
            </a:r>
            <a:r>
              <a:rPr lang="en-US" dirty="0" smtClean="0"/>
              <a:t>.</a:t>
            </a:r>
          </a:p>
          <a:p>
            <a:r>
              <a:rPr lang="en-US" b="1" dirty="0"/>
              <a:t>Weekends</a:t>
            </a:r>
            <a:r>
              <a:rPr lang="en-US" dirty="0"/>
              <a:t> underperform at all locations, suggesting </a:t>
            </a:r>
            <a:r>
              <a:rPr lang="en-US" b="1" dirty="0"/>
              <a:t>weekday-driven customer flow</a:t>
            </a:r>
            <a:r>
              <a:rPr lang="en-US" dirty="0" smtClean="0"/>
              <a:t>.</a:t>
            </a:r>
          </a:p>
          <a:p>
            <a:endParaRPr lang="en-US" b="1" dirty="0" smtClean="0"/>
          </a:p>
          <a:p>
            <a:r>
              <a:rPr lang="en-US" b="1" dirty="0" smtClean="0"/>
              <a:t>Night-time </a:t>
            </a:r>
            <a:r>
              <a:rPr lang="en-US" b="1" dirty="0"/>
              <a:t>sales are very low</a:t>
            </a:r>
            <a:r>
              <a:rPr lang="en-US" dirty="0"/>
              <a:t>, especially in </a:t>
            </a:r>
            <a:r>
              <a:rPr lang="en-US" b="1" dirty="0"/>
              <a:t>Lower Manhattan</a:t>
            </a:r>
            <a:r>
              <a:rPr lang="en-US" dirty="0"/>
              <a:t>, which is nearly </a:t>
            </a:r>
            <a:r>
              <a:rPr lang="en-US" dirty="0" smtClean="0"/>
              <a:t>inactive</a:t>
            </a:r>
          </a:p>
          <a:p>
            <a:endParaRPr lang="en-US" dirty="0" smtClean="0"/>
          </a:p>
          <a:p>
            <a:r>
              <a:rPr lang="en-ZA" b="1" dirty="0"/>
              <a:t>Insights &amp; </a:t>
            </a:r>
            <a:r>
              <a:rPr lang="en-ZA" b="1" dirty="0" smtClean="0"/>
              <a:t>Recommendations</a:t>
            </a:r>
          </a:p>
          <a:p>
            <a:r>
              <a:rPr lang="en-ZA" dirty="0"/>
              <a:t>Strengthen Weekend </a:t>
            </a:r>
            <a:r>
              <a:rPr lang="en-ZA" dirty="0" smtClean="0"/>
              <a:t>Performance</a:t>
            </a:r>
          </a:p>
          <a:p>
            <a:r>
              <a:rPr lang="en-US" dirty="0"/>
              <a:t>All three locations show </a:t>
            </a:r>
            <a:r>
              <a:rPr lang="en-US" b="1" dirty="0"/>
              <a:t>lower sales on Saturday and Sunday</a:t>
            </a:r>
            <a:r>
              <a:rPr lang="en-US" dirty="0" smtClean="0"/>
              <a:t>.</a:t>
            </a:r>
          </a:p>
          <a:p>
            <a:r>
              <a:rPr lang="en-ZA" b="1" dirty="0" smtClean="0"/>
              <a:t>Sustain </a:t>
            </a:r>
            <a:r>
              <a:rPr lang="en-ZA" b="1" dirty="0"/>
              <a:t>Weekday </a:t>
            </a:r>
            <a:r>
              <a:rPr lang="en-ZA" b="1" dirty="0" smtClean="0"/>
              <a:t>Strength</a:t>
            </a:r>
          </a:p>
          <a:p>
            <a:r>
              <a:rPr lang="en-ZA" dirty="0"/>
              <a:t>Weekdays (Mon–Fri) are consistent revenue drivers.</a:t>
            </a:r>
            <a:r>
              <a:rPr lang="en-US" dirty="0" smtClean="0"/>
              <a:t>.</a:t>
            </a:r>
            <a:endParaRPr lang="en-ZA" b="1" dirty="0" smtClean="0"/>
          </a:p>
          <a:p>
            <a:r>
              <a:rPr lang="en-US" b="1" dirty="0"/>
              <a:t>Key Opportunity:</a:t>
            </a:r>
            <a:r>
              <a:rPr lang="en-US" dirty="0"/>
              <a:t> Grow weekend revenue and strengthen evening traffic.</a:t>
            </a:r>
            <a:endParaRPr lang="en-ZA" b="1" dirty="0"/>
          </a:p>
        </p:txBody>
      </p:sp>
      <p:graphicFrame>
        <p:nvGraphicFramePr>
          <p:cNvPr id="5" name="Chart 4"/>
          <p:cNvGraphicFramePr/>
          <p:nvPr>
            <p:extLst>
              <p:ext uri="{D42A27DB-BD31-4B8C-83A1-F6EECF244321}">
                <p14:modId xmlns:p14="http://schemas.microsoft.com/office/powerpoint/2010/main" val="81561325"/>
              </p:ext>
            </p:extLst>
          </p:nvPr>
        </p:nvGraphicFramePr>
        <p:xfrm>
          <a:off x="990600" y="1079500"/>
          <a:ext cx="8686800" cy="8128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11000" y="2252624"/>
            <a:ext cx="792549" cy="774259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369892" y="3168964"/>
            <a:ext cx="792549" cy="774259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162441" y="2394705"/>
            <a:ext cx="792549" cy="7742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56601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18"/>
          <p:cNvSpPr txBox="1"/>
          <p:nvPr/>
        </p:nvSpPr>
        <p:spPr>
          <a:xfrm>
            <a:off x="9677400" y="5372100"/>
            <a:ext cx="8610599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All three stores follow </a:t>
            </a:r>
            <a:r>
              <a:rPr lang="en-US" b="1" dirty="0"/>
              <a:t>the same growth pattern</a:t>
            </a:r>
            <a:r>
              <a:rPr lang="en-US" dirty="0" smtClean="0"/>
              <a:t>:</a:t>
            </a:r>
          </a:p>
          <a:p>
            <a:r>
              <a:rPr lang="en-US" dirty="0"/>
              <a:t>Dip in February → 📈 Strong recovery from March onward</a:t>
            </a:r>
            <a:r>
              <a:rPr lang="en-US" dirty="0" smtClean="0"/>
              <a:t>.</a:t>
            </a:r>
          </a:p>
          <a:p>
            <a:endParaRPr lang="en-US" b="1" dirty="0"/>
          </a:p>
          <a:p>
            <a:r>
              <a:rPr lang="en-US" dirty="0" smtClean="0"/>
              <a:t>May </a:t>
            </a:r>
            <a:r>
              <a:rPr lang="en-US" dirty="0"/>
              <a:t>and June are </a:t>
            </a:r>
            <a:r>
              <a:rPr lang="en-US" b="1" dirty="0"/>
              <a:t>peak revenue months</a:t>
            </a:r>
            <a:r>
              <a:rPr lang="en-US" dirty="0"/>
              <a:t>, so business performs best </a:t>
            </a:r>
          </a:p>
          <a:p>
            <a:endParaRPr lang="en-US" dirty="0" smtClean="0"/>
          </a:p>
          <a:p>
            <a:r>
              <a:rPr lang="en-ZA" b="1" dirty="0"/>
              <a:t>Insights &amp; </a:t>
            </a:r>
            <a:r>
              <a:rPr lang="en-ZA" b="1" dirty="0" smtClean="0"/>
              <a:t>Recommendations</a:t>
            </a:r>
          </a:p>
          <a:p>
            <a:r>
              <a:rPr lang="en-ZA" dirty="0"/>
              <a:t>Maximize Peak Months (Mar–Jun)</a:t>
            </a:r>
            <a:endParaRPr lang="en-ZA" b="1" dirty="0"/>
          </a:p>
        </p:txBody>
      </p:sp>
      <p:graphicFrame>
        <p:nvGraphicFramePr>
          <p:cNvPr id="11" name="Chart 10"/>
          <p:cNvGraphicFramePr/>
          <p:nvPr>
            <p:extLst>
              <p:ext uri="{D42A27DB-BD31-4B8C-83A1-F6EECF244321}">
                <p14:modId xmlns:p14="http://schemas.microsoft.com/office/powerpoint/2010/main" val="2707399824"/>
              </p:ext>
            </p:extLst>
          </p:nvPr>
        </p:nvGraphicFramePr>
        <p:xfrm>
          <a:off x="3048000" y="723900"/>
          <a:ext cx="6400800" cy="7696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106400" y="2171700"/>
            <a:ext cx="792549" cy="774259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42439" y="2171700"/>
            <a:ext cx="792549" cy="774259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574420" y="2928641"/>
            <a:ext cx="792549" cy="7742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37730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6" cy="10287002"/>
          </a:xfrm>
          <a:custGeom>
            <a:avLst/>
            <a:gdLst/>
            <a:ahLst/>
            <a:cxnLst/>
            <a:rect l="l" t="t" r="r" b="b"/>
            <a:pathLst>
              <a:path w="18288006" h="10287002">
                <a:moveTo>
                  <a:pt x="0" y="0"/>
                </a:moveTo>
                <a:lnTo>
                  <a:pt x="18288006" y="0"/>
                </a:lnTo>
                <a:lnTo>
                  <a:pt x="18288006" y="10287002"/>
                </a:lnTo>
                <a:lnTo>
                  <a:pt x="0" y="10287002"/>
                </a:lnTo>
                <a:lnTo>
                  <a:pt x="0" y="0"/>
                </a:lnTo>
                <a:close/>
              </a:path>
            </a:pathLst>
          </a:custGeom>
          <a:solidFill>
            <a:schemeClr val="accent6">
              <a:lumMod val="60000"/>
              <a:lumOff val="40000"/>
            </a:schemeClr>
          </a:solidFill>
        </p:spPr>
      </p:sp>
      <p:sp>
        <p:nvSpPr>
          <p:cNvPr id="3" name="Freeform 3"/>
          <p:cNvSpPr/>
          <p:nvPr/>
        </p:nvSpPr>
        <p:spPr>
          <a:xfrm>
            <a:off x="665797" y="-1568693"/>
            <a:ext cx="343137" cy="259422"/>
          </a:xfrm>
          <a:custGeom>
            <a:avLst/>
            <a:gdLst/>
            <a:ahLst/>
            <a:cxnLst/>
            <a:rect l="l" t="t" r="r" b="b"/>
            <a:pathLst>
              <a:path w="343137" h="259422">
                <a:moveTo>
                  <a:pt x="0" y="0"/>
                </a:moveTo>
                <a:lnTo>
                  <a:pt x="343138" y="0"/>
                </a:lnTo>
                <a:lnTo>
                  <a:pt x="343138" y="259422"/>
                </a:lnTo>
                <a:lnTo>
                  <a:pt x="0" y="25942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1531425" y="981475"/>
            <a:ext cx="15225150" cy="7952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7200"/>
              </a:lnSpc>
            </a:pPr>
            <a:r>
              <a:rPr lang="en-ZA" sz="2800" dirty="0"/>
              <a:t>Revenue Insights by Location</a:t>
            </a:r>
            <a:endParaRPr lang="en-US" sz="2800" dirty="0">
              <a:solidFill>
                <a:srgbClr val="1B3627"/>
              </a:solidFill>
              <a:latin typeface="DM Serif Display"/>
              <a:ea typeface="DM Serif Display"/>
              <a:cs typeface="DM Serif Display"/>
              <a:sym typeface="DM Serif Display"/>
            </a:endParaRPr>
          </a:p>
        </p:txBody>
      </p:sp>
      <p:graphicFrame>
        <p:nvGraphicFramePr>
          <p:cNvPr id="11" name="Chart 10"/>
          <p:cNvGraphicFramePr/>
          <p:nvPr>
            <p:extLst>
              <p:ext uri="{D42A27DB-BD31-4B8C-83A1-F6EECF244321}">
                <p14:modId xmlns:p14="http://schemas.microsoft.com/office/powerpoint/2010/main" val="2641979707"/>
              </p:ext>
            </p:extLst>
          </p:nvPr>
        </p:nvGraphicFramePr>
        <p:xfrm>
          <a:off x="855508" y="2476500"/>
          <a:ext cx="7993575" cy="701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0058399" y="2920057"/>
            <a:ext cx="8077201" cy="590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b="1" dirty="0">
                <a:latin typeface="Arial" panose="020B0604020202020204" pitchFamily="34" charset="0"/>
                <a:cs typeface="Arial" panose="020B0604020202020204" pitchFamily="34" charset="0"/>
              </a:rPr>
              <a:t>Overall </a:t>
            </a:r>
            <a:r>
              <a:rPr lang="en-ZA" b="1" dirty="0" smtClean="0">
                <a:latin typeface="Arial" panose="020B0604020202020204" pitchFamily="34" charset="0"/>
                <a:cs typeface="Arial" panose="020B0604020202020204" pitchFamily="34" charset="0"/>
              </a:rPr>
              <a:t>Performance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Total revenue across the three areas =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706,665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(sum of all locations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The revenue distribution is relatively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balanced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, with no single area dominating the total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ZA" b="1" dirty="0">
                <a:latin typeface="Arial" panose="020B0604020202020204" pitchFamily="34" charset="0"/>
                <a:cs typeface="Arial" panose="020B0604020202020204" pitchFamily="34" charset="0"/>
              </a:rPr>
              <a:t>Top </a:t>
            </a:r>
            <a:r>
              <a:rPr lang="en-ZA" b="1" dirty="0" smtClean="0">
                <a:latin typeface="Arial" panose="020B0604020202020204" pitchFamily="34" charset="0"/>
                <a:cs typeface="Arial" panose="020B0604020202020204" pitchFamily="34" charset="0"/>
              </a:rPr>
              <a:t>Performer</a:t>
            </a:r>
          </a:p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Hell’s Kitchen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leads with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239,190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, about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34% of total revenue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Slightly ahead of Astoria and Lower Manhattan, showing strong customer or sales activity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ZA" b="1" dirty="0">
                <a:latin typeface="Arial" panose="020B0604020202020204" pitchFamily="34" charset="0"/>
                <a:cs typeface="Arial" panose="020B0604020202020204" pitchFamily="34" charset="0"/>
              </a:rPr>
              <a:t>Close </a:t>
            </a:r>
            <a:r>
              <a:rPr lang="en-ZA" b="1" dirty="0" smtClean="0">
                <a:latin typeface="Arial" panose="020B0604020202020204" pitchFamily="34" charset="0"/>
                <a:cs typeface="Arial" panose="020B0604020202020204" pitchFamily="34" charset="0"/>
              </a:rPr>
              <a:t>Competition</a:t>
            </a:r>
          </a:p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Astoria (234,986)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and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Lower Manhattan (232,489)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are only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~1% apart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, suggesting similar market performance or customer base strength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ZA" b="1" dirty="0">
                <a:latin typeface="Arial" panose="020B0604020202020204" pitchFamily="34" charset="0"/>
                <a:cs typeface="Arial" panose="020B0604020202020204" pitchFamily="34" charset="0"/>
              </a:rPr>
              <a:t>Key </a:t>
            </a:r>
            <a:r>
              <a:rPr lang="en-ZA" b="1" dirty="0" smtClean="0">
                <a:latin typeface="Arial" panose="020B0604020202020204" pitchFamily="34" charset="0"/>
                <a:cs typeface="Arial" panose="020B0604020202020204" pitchFamily="34" charset="0"/>
              </a:rPr>
              <a:t>Insight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Since revenues are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within a 3% range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, performance is stable across locations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This could mean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consistent demand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and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balanced business operations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across the city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If the goal is growth,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Hell’s Kitchen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can serve as a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benchmark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for small optimizations in the other two areas.</a:t>
            </a:r>
            <a:endParaRPr lang="en-ZA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565154" y="1624418"/>
            <a:ext cx="792549" cy="774259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403164" y="1588923"/>
            <a:ext cx="792549" cy="774259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001727" y="992172"/>
            <a:ext cx="792549" cy="77425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9DEC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6" cy="10287002"/>
          </a:xfrm>
          <a:custGeom>
            <a:avLst/>
            <a:gdLst/>
            <a:ahLst/>
            <a:cxnLst/>
            <a:rect l="l" t="t" r="r" b="b"/>
            <a:pathLst>
              <a:path w="18288006" h="10287002">
                <a:moveTo>
                  <a:pt x="0" y="0"/>
                </a:moveTo>
                <a:lnTo>
                  <a:pt x="18288006" y="0"/>
                </a:lnTo>
                <a:lnTo>
                  <a:pt x="18288006" y="10287002"/>
                </a:lnTo>
                <a:lnTo>
                  <a:pt x="0" y="10287002"/>
                </a:lnTo>
                <a:lnTo>
                  <a:pt x="0" y="0"/>
                </a:lnTo>
                <a:close/>
              </a:path>
            </a:pathLst>
          </a:custGeom>
          <a:solidFill>
            <a:schemeClr val="accent6">
              <a:lumMod val="60000"/>
              <a:lumOff val="40000"/>
            </a:schemeClr>
          </a:solidFill>
        </p:spPr>
      </p:sp>
      <p:sp>
        <p:nvSpPr>
          <p:cNvPr id="5" name="TextBox 5"/>
          <p:cNvSpPr txBox="1"/>
          <p:nvPr/>
        </p:nvSpPr>
        <p:spPr>
          <a:xfrm>
            <a:off x="1531425" y="981475"/>
            <a:ext cx="15225150" cy="923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200"/>
              </a:lnSpc>
            </a:pPr>
            <a:endParaRPr lang="en-US" sz="6000" dirty="0">
              <a:solidFill>
                <a:srgbClr val="1B3627"/>
              </a:solidFill>
              <a:latin typeface="DM Serif Display"/>
              <a:ea typeface="DM Serif Display"/>
              <a:cs typeface="DM Serif Display"/>
              <a:sym typeface="DM Serif Display"/>
            </a:endParaRPr>
          </a:p>
        </p:txBody>
      </p:sp>
      <p:graphicFrame>
        <p:nvGraphicFramePr>
          <p:cNvPr id="12" name="Chart 11"/>
          <p:cNvGraphicFramePr/>
          <p:nvPr>
            <p:extLst>
              <p:ext uri="{D42A27DB-BD31-4B8C-83A1-F6EECF244321}">
                <p14:modId xmlns:p14="http://schemas.microsoft.com/office/powerpoint/2010/main" val="3701466108"/>
              </p:ext>
            </p:extLst>
          </p:nvPr>
        </p:nvGraphicFramePr>
        <p:xfrm>
          <a:off x="381000" y="1627806"/>
          <a:ext cx="8153400" cy="763049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8763000" y="3695700"/>
            <a:ext cx="9372600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Coffee dominates</a:t>
            </a:r>
            <a:r>
              <a:rPr lang="en-US" dirty="0"/>
              <a:t> — accounts for about </a:t>
            </a:r>
            <a:r>
              <a:rPr lang="en-US" b="1" dirty="0"/>
              <a:t>37% of total revenue (25,826 / 70,373</a:t>
            </a:r>
            <a:r>
              <a:rPr lang="en-US" b="1" dirty="0" smtClean="0"/>
              <a:t>)</a:t>
            </a:r>
            <a:r>
              <a:rPr lang="en-US" dirty="0" smtClean="0"/>
              <a:t>.</a:t>
            </a:r>
          </a:p>
          <a:p>
            <a:r>
              <a:rPr lang="en-US" b="1" dirty="0"/>
              <a:t>Tea and Bakery combined</a:t>
            </a:r>
            <a:r>
              <a:rPr lang="en-US" dirty="0"/>
              <a:t> make up nearly </a:t>
            </a:r>
            <a:r>
              <a:rPr lang="en-US" b="1" dirty="0"/>
              <a:t>45%</a:t>
            </a:r>
            <a:r>
              <a:rPr lang="en-US" dirty="0"/>
              <a:t>, showing strong beverage and snack synergy</a:t>
            </a:r>
            <a:r>
              <a:rPr lang="en-US" dirty="0" smtClean="0"/>
              <a:t>.</a:t>
            </a:r>
          </a:p>
          <a:p>
            <a:r>
              <a:rPr lang="en-US" b="1" dirty="0"/>
              <a:t>Hell’s Kitchen</a:t>
            </a:r>
            <a:r>
              <a:rPr lang="en-US" dirty="0"/>
              <a:t> slightly leads in </a:t>
            </a:r>
            <a:r>
              <a:rPr lang="en-US" b="1" dirty="0"/>
              <a:t>Coffee</a:t>
            </a:r>
            <a:r>
              <a:rPr lang="en-US" dirty="0"/>
              <a:t> and </a:t>
            </a:r>
            <a:r>
              <a:rPr lang="en-US" b="1" dirty="0"/>
              <a:t>premium items (beans, chocolate)</a:t>
            </a:r>
            <a:r>
              <a:rPr lang="en-US" dirty="0"/>
              <a:t> → possible </a:t>
            </a:r>
            <a:r>
              <a:rPr lang="en-US" b="1" dirty="0"/>
              <a:t>affluent or loyal customer base</a:t>
            </a:r>
            <a:r>
              <a:rPr lang="en-US" dirty="0" smtClean="0"/>
              <a:t>.</a:t>
            </a:r>
          </a:p>
          <a:p>
            <a:r>
              <a:rPr lang="en-US" b="1" dirty="0"/>
              <a:t>Astoria</a:t>
            </a:r>
            <a:r>
              <a:rPr lang="en-US" dirty="0"/>
              <a:t> excels in </a:t>
            </a:r>
            <a:r>
              <a:rPr lang="en-US" b="1" dirty="0"/>
              <a:t>Tea and Bakery</a:t>
            </a:r>
            <a:r>
              <a:rPr lang="en-US" dirty="0"/>
              <a:t> → likely strong morning/afternoon retail traffic</a:t>
            </a:r>
            <a:r>
              <a:rPr lang="en-US" dirty="0" smtClean="0"/>
              <a:t>.</a:t>
            </a:r>
          </a:p>
          <a:p>
            <a:r>
              <a:rPr lang="en-US" b="1" dirty="0"/>
              <a:t>Lower Manhattan</a:t>
            </a:r>
            <a:r>
              <a:rPr lang="en-US" dirty="0"/>
              <a:t> shows </a:t>
            </a:r>
            <a:r>
              <a:rPr lang="en-US" b="1" dirty="0"/>
              <a:t>balanced performance</a:t>
            </a:r>
            <a:r>
              <a:rPr lang="en-US" dirty="0"/>
              <a:t> but slightly lower numbers overall → potential to increase with promotions or product bundling</a:t>
            </a:r>
            <a:r>
              <a:rPr lang="en-US" dirty="0" smtClean="0"/>
              <a:t>.</a:t>
            </a:r>
          </a:p>
          <a:p>
            <a:endParaRPr lang="en-US" dirty="0"/>
          </a:p>
          <a:p>
            <a:r>
              <a:rPr lang="en-ZA" dirty="0"/>
              <a:t>Business </a:t>
            </a:r>
            <a:r>
              <a:rPr lang="en-ZA" dirty="0" smtClean="0"/>
              <a:t>Recommendations</a:t>
            </a:r>
          </a:p>
          <a:p>
            <a:r>
              <a:rPr lang="en-US" b="1"/>
              <a:t>Boost Coffee &amp; Tea promotions</a:t>
            </a:r>
            <a:r>
              <a:rPr lang="en-US"/>
              <a:t> — they drive nearly </a:t>
            </a:r>
            <a:r>
              <a:rPr lang="en-US" b="1"/>
              <a:t>80% of revenue</a:t>
            </a:r>
            <a:r>
              <a:rPr lang="en-US" smtClean="0"/>
              <a:t>.</a:t>
            </a:r>
          </a:p>
          <a:p>
            <a:r>
              <a:rPr lang="en-US" b="1" dirty="0"/>
              <a:t>Leverage Astoria’s strong Tea market</a:t>
            </a:r>
            <a:r>
              <a:rPr lang="en-US" dirty="0"/>
              <a:t> for </a:t>
            </a:r>
            <a:r>
              <a:rPr lang="en-US" b="1" dirty="0"/>
              <a:t>new flavor launches</a:t>
            </a:r>
            <a:r>
              <a:rPr lang="en-US" dirty="0" smtClean="0"/>
              <a:t>.</a:t>
            </a:r>
          </a:p>
          <a:p>
            <a:r>
              <a:rPr lang="en-US" b="1" dirty="0"/>
              <a:t>Push premium products (Coffee Beans, Chocolate)</a:t>
            </a:r>
            <a:r>
              <a:rPr lang="en-US" dirty="0"/>
              <a:t> in </a:t>
            </a:r>
            <a:r>
              <a:rPr lang="en-US" b="1" dirty="0"/>
              <a:t>Hell’s Kitchen</a:t>
            </a:r>
            <a:r>
              <a:rPr lang="en-US" dirty="0"/>
              <a:t>, where luxury items sell better</a:t>
            </a:r>
            <a:r>
              <a:rPr lang="en-US" dirty="0" smtClean="0"/>
              <a:t>.</a:t>
            </a:r>
          </a:p>
          <a:p>
            <a:r>
              <a:rPr lang="en-US" b="1" dirty="0"/>
              <a:t>Expand Bakery offerings</a:t>
            </a:r>
            <a:r>
              <a:rPr lang="en-US" dirty="0"/>
              <a:t> in </a:t>
            </a:r>
            <a:r>
              <a:rPr lang="en-US" b="1" dirty="0"/>
              <a:t>Lower Manhattan</a:t>
            </a:r>
            <a:r>
              <a:rPr lang="en-US" dirty="0"/>
              <a:t>, where beverage sales are high but food </a:t>
            </a:r>
            <a:r>
              <a:rPr lang="en-US" dirty="0" smtClean="0"/>
              <a:t>pairing </a:t>
            </a:r>
            <a:r>
              <a:rPr lang="en-ZA"/>
              <a:t>opportunities exist.</a:t>
            </a:r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97922" y="1670037"/>
            <a:ext cx="792549" cy="774259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725273" y="1730224"/>
            <a:ext cx="792549" cy="774259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192000" y="834777"/>
            <a:ext cx="792549" cy="77425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9DEC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533400" y="0"/>
            <a:ext cx="18821406" cy="10287002"/>
          </a:xfrm>
          <a:custGeom>
            <a:avLst/>
            <a:gdLst/>
            <a:ahLst/>
            <a:cxnLst/>
            <a:rect l="l" t="t" r="r" b="b"/>
            <a:pathLst>
              <a:path w="18288006" h="10287002">
                <a:moveTo>
                  <a:pt x="0" y="0"/>
                </a:moveTo>
                <a:lnTo>
                  <a:pt x="18288006" y="0"/>
                </a:lnTo>
                <a:lnTo>
                  <a:pt x="18288006" y="10287002"/>
                </a:lnTo>
                <a:lnTo>
                  <a:pt x="0" y="10287002"/>
                </a:lnTo>
                <a:lnTo>
                  <a:pt x="0" y="0"/>
                </a:lnTo>
                <a:close/>
              </a:path>
            </a:pathLst>
          </a:custGeom>
          <a:solidFill>
            <a:schemeClr val="accent6">
              <a:lumMod val="60000"/>
              <a:lumOff val="40000"/>
            </a:schemeClr>
          </a:solidFill>
        </p:spPr>
      </p:sp>
      <p:sp>
        <p:nvSpPr>
          <p:cNvPr id="5" name="TextBox 5"/>
          <p:cNvSpPr txBox="1"/>
          <p:nvPr/>
        </p:nvSpPr>
        <p:spPr>
          <a:xfrm>
            <a:off x="1531425" y="981475"/>
            <a:ext cx="15225150" cy="923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200"/>
              </a:lnSpc>
            </a:pPr>
            <a:endParaRPr lang="en-US" sz="6000" dirty="0">
              <a:solidFill>
                <a:srgbClr val="1B3627"/>
              </a:solidFill>
              <a:latin typeface="DM Serif Display"/>
              <a:ea typeface="DM Serif Display"/>
              <a:cs typeface="DM Serif Display"/>
              <a:sym typeface="DM Serif Display"/>
            </a:endParaRPr>
          </a:p>
        </p:txBody>
      </p:sp>
      <p:graphicFrame>
        <p:nvGraphicFramePr>
          <p:cNvPr id="12" name="Chart 11"/>
          <p:cNvGraphicFramePr/>
          <p:nvPr>
            <p:extLst>
              <p:ext uri="{D42A27DB-BD31-4B8C-83A1-F6EECF244321}">
                <p14:modId xmlns:p14="http://schemas.microsoft.com/office/powerpoint/2010/main" val="1598520460"/>
              </p:ext>
            </p:extLst>
          </p:nvPr>
        </p:nvGraphicFramePr>
        <p:xfrm>
          <a:off x="152400" y="981475"/>
          <a:ext cx="8915400" cy="85816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9296400" y="3695700"/>
            <a:ext cx="8839200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/>
              <a:t>Key Insights &amp; Opportunities</a:t>
            </a:r>
          </a:p>
          <a:p>
            <a:r>
              <a:rPr lang="en-US" b="1" dirty="0"/>
              <a:t>Coffee Dominates</a:t>
            </a:r>
            <a:endParaRPr lang="en-US" dirty="0"/>
          </a:p>
          <a:p>
            <a:pPr lvl="1"/>
            <a:r>
              <a:rPr lang="en-US" dirty="0"/>
              <a:t>Coffee-related items (brewed, espresso, gourmet, premium) make up </a:t>
            </a:r>
            <a:r>
              <a:rPr lang="en-US" b="1" dirty="0"/>
              <a:t>over 60% of total revenue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Focus marketing and loyalty offers here.</a:t>
            </a:r>
          </a:p>
          <a:p>
            <a:r>
              <a:rPr lang="en-US" b="1" dirty="0"/>
              <a:t>Tea Gaining Ground</a:t>
            </a:r>
            <a:endParaRPr lang="en-US" dirty="0"/>
          </a:p>
          <a:p>
            <a:pPr lvl="1"/>
            <a:r>
              <a:rPr lang="en-US" dirty="0"/>
              <a:t>Herbal, green, and chai teas show notable sales; opportunity for </a:t>
            </a:r>
            <a:r>
              <a:rPr lang="en-US" b="1" dirty="0"/>
              <a:t>wellness/organic branding</a:t>
            </a:r>
            <a:r>
              <a:rPr lang="en-US" dirty="0"/>
              <a:t>.</a:t>
            </a:r>
          </a:p>
          <a:p>
            <a:r>
              <a:rPr lang="en-US" b="1" dirty="0"/>
              <a:t>Astoria = Volume Market</a:t>
            </a:r>
            <a:endParaRPr lang="en-US" dirty="0"/>
          </a:p>
          <a:p>
            <a:pPr lvl="1"/>
            <a:r>
              <a:rPr lang="en-US" dirty="0"/>
              <a:t>Highest combined beverage totals; optimize for speed and service volume.</a:t>
            </a:r>
          </a:p>
          <a:p>
            <a:r>
              <a:rPr lang="en-US" b="1" dirty="0"/>
              <a:t>Hell’s Kitchen = Premium Market</a:t>
            </a:r>
            <a:endParaRPr lang="en-US" dirty="0"/>
          </a:p>
          <a:p>
            <a:pPr lvl="1"/>
            <a:r>
              <a:rPr lang="en-US" dirty="0"/>
              <a:t>Premium and organic items perform best; focus on </a:t>
            </a:r>
            <a:r>
              <a:rPr lang="en-US" b="1" dirty="0"/>
              <a:t>high-margin, quality products</a:t>
            </a:r>
            <a:r>
              <a:rPr lang="en-US" dirty="0"/>
              <a:t>.</a:t>
            </a:r>
          </a:p>
          <a:p>
            <a:r>
              <a:rPr lang="en-US" b="1" dirty="0"/>
              <a:t>Lower Manhattan = Cross-Sell Market</a:t>
            </a:r>
            <a:endParaRPr lang="en-US" dirty="0"/>
          </a:p>
          <a:p>
            <a:pPr lvl="1"/>
            <a:r>
              <a:rPr lang="en-US" dirty="0"/>
              <a:t>Strong performance in pastries and housewares; ideal for </a:t>
            </a:r>
            <a:r>
              <a:rPr lang="en-US" b="1" dirty="0"/>
              <a:t>combo promotions</a:t>
            </a:r>
            <a:r>
              <a:rPr lang="en-US" dirty="0"/>
              <a:t> (“coffee + snack” bundles).</a:t>
            </a:r>
          </a:p>
          <a:p>
            <a:r>
              <a:rPr lang="en-US" b="1" dirty="0"/>
              <a:t>Emerging Products</a:t>
            </a:r>
            <a:endParaRPr lang="en-US" dirty="0"/>
          </a:p>
          <a:p>
            <a:pPr lvl="1"/>
            <a:r>
              <a:rPr lang="en-US" b="1" dirty="0"/>
              <a:t>Organic Beans, Premium Beans, and Sugar-Free Syrup</a:t>
            </a:r>
            <a:r>
              <a:rPr lang="en-US" dirty="0"/>
              <a:t> are growing categories → align with </a:t>
            </a:r>
            <a:r>
              <a:rPr lang="en-US" b="1" dirty="0"/>
              <a:t>health-conscious customers</a:t>
            </a:r>
            <a:r>
              <a:rPr lang="en-US" dirty="0"/>
              <a:t>.</a:t>
            </a:r>
          </a:p>
          <a:p>
            <a:endParaRPr lang="en-ZA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319725" y="1056010"/>
            <a:ext cx="792549" cy="774259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981733" y="1871749"/>
            <a:ext cx="792549" cy="774259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01600" y="1979340"/>
            <a:ext cx="792549" cy="7742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74895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9DEC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6" cy="10287002"/>
          </a:xfrm>
          <a:custGeom>
            <a:avLst/>
            <a:gdLst/>
            <a:ahLst/>
            <a:cxnLst/>
            <a:rect l="l" t="t" r="r" b="b"/>
            <a:pathLst>
              <a:path w="18288006" h="10287002">
                <a:moveTo>
                  <a:pt x="0" y="0"/>
                </a:moveTo>
                <a:lnTo>
                  <a:pt x="18288006" y="0"/>
                </a:lnTo>
                <a:lnTo>
                  <a:pt x="18288006" y="10287002"/>
                </a:lnTo>
                <a:lnTo>
                  <a:pt x="0" y="10287002"/>
                </a:lnTo>
                <a:lnTo>
                  <a:pt x="0" y="0"/>
                </a:lnTo>
                <a:close/>
              </a:path>
            </a:pathLst>
          </a:custGeom>
          <a:solidFill>
            <a:schemeClr val="accent6">
              <a:lumMod val="60000"/>
              <a:lumOff val="40000"/>
            </a:schemeClr>
          </a:solidFill>
        </p:spPr>
      </p:sp>
      <p:sp>
        <p:nvSpPr>
          <p:cNvPr id="8" name="TextBox 8"/>
          <p:cNvSpPr txBox="1"/>
          <p:nvPr/>
        </p:nvSpPr>
        <p:spPr>
          <a:xfrm>
            <a:off x="1517975" y="1618525"/>
            <a:ext cx="8713350" cy="1520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400"/>
              </a:lnSpc>
            </a:pPr>
            <a:r>
              <a:rPr lang="en-US" sz="12000">
                <a:solidFill>
                  <a:srgbClr val="1B3627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Thanks!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517875" y="3117525"/>
            <a:ext cx="8713350" cy="1308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 dirty="0">
                <a:solidFill>
                  <a:srgbClr val="1B3627"/>
                </a:solidFill>
                <a:latin typeface="Andika"/>
                <a:ea typeface="Andika"/>
                <a:cs typeface="Andika"/>
                <a:sym typeface="Andika"/>
              </a:rPr>
              <a:t>Do you have any questions?</a:t>
            </a:r>
          </a:p>
          <a:p>
            <a:pPr algn="l">
              <a:lnSpc>
                <a:spcPts val="3359"/>
              </a:lnSpc>
            </a:pPr>
            <a:r>
              <a:rPr lang="en-US" sz="2799" dirty="0" smtClean="0">
                <a:solidFill>
                  <a:srgbClr val="1B3627"/>
                </a:solidFill>
                <a:latin typeface="Andika"/>
                <a:ea typeface="Andika"/>
                <a:cs typeface="Andika"/>
                <a:sym typeface="Andika"/>
                <a:hlinkClick r:id="rId3"/>
              </a:rPr>
              <a:t>tkndlovu111@gmail.com</a:t>
            </a:r>
            <a:endParaRPr lang="en-US" sz="2799" dirty="0" smtClean="0">
              <a:solidFill>
                <a:srgbClr val="1B3627"/>
              </a:solidFill>
              <a:latin typeface="Andika"/>
              <a:ea typeface="Andika"/>
              <a:cs typeface="Andika"/>
              <a:sym typeface="Andika"/>
            </a:endParaRPr>
          </a:p>
          <a:p>
            <a:pPr algn="l">
              <a:lnSpc>
                <a:spcPts val="3359"/>
              </a:lnSpc>
            </a:pPr>
            <a:r>
              <a:rPr lang="en-US" sz="2799" dirty="0" smtClean="0">
                <a:solidFill>
                  <a:srgbClr val="1B3627"/>
                </a:solidFill>
                <a:latin typeface="Andika"/>
                <a:ea typeface="Andika"/>
                <a:cs typeface="Andika"/>
                <a:sym typeface="Andika"/>
              </a:rPr>
              <a:t>+27 69 1414 241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517875" y="8606972"/>
            <a:ext cx="8119611" cy="37189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dirty="0" smtClean="0">
                <a:solidFill>
                  <a:srgbClr val="1B3627"/>
                </a:solidFill>
                <a:latin typeface="Andika"/>
                <a:ea typeface="Andika"/>
                <a:cs typeface="Andika"/>
                <a:sym typeface="Andika"/>
              </a:rPr>
              <a:t>Presented By TK Ndlovu</a:t>
            </a:r>
            <a:endParaRPr lang="en-US" sz="2400" dirty="0">
              <a:solidFill>
                <a:srgbClr val="1B3627"/>
              </a:solidFill>
              <a:latin typeface="Andika"/>
              <a:ea typeface="Andika"/>
              <a:cs typeface="Andika"/>
              <a:sym typeface="Andika"/>
            </a:endParaRPr>
          </a:p>
        </p:txBody>
      </p:sp>
      <p:grpSp>
        <p:nvGrpSpPr>
          <p:cNvPr id="12" name="Group 12"/>
          <p:cNvGrpSpPr/>
          <p:nvPr/>
        </p:nvGrpSpPr>
        <p:grpSpPr>
          <a:xfrm>
            <a:off x="1598200" y="5705050"/>
            <a:ext cx="1282800" cy="1282800"/>
            <a:chOff x="0" y="0"/>
            <a:chExt cx="1710400" cy="17104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710436" cy="1710436"/>
            </a:xfrm>
            <a:custGeom>
              <a:avLst/>
              <a:gdLst/>
              <a:ahLst/>
              <a:cxnLst/>
              <a:rect l="l" t="t" r="r" b="b"/>
              <a:pathLst>
                <a:path w="1710436" h="1710436">
                  <a:moveTo>
                    <a:pt x="0" y="0"/>
                  </a:moveTo>
                  <a:lnTo>
                    <a:pt x="1710436" y="0"/>
                  </a:lnTo>
                  <a:lnTo>
                    <a:pt x="1710436" y="1710436"/>
                  </a:lnTo>
                  <a:lnTo>
                    <a:pt x="0" y="1710436"/>
                  </a:lnTo>
                  <a:close/>
                </a:path>
              </a:pathLst>
            </a:custGeom>
            <a:solidFill>
              <a:srgbClr val="FEFFFA">
                <a:alpha val="15686"/>
              </a:srgbClr>
            </a:solidFill>
          </p:spPr>
        </p:sp>
      </p:grpSp>
      <p:grpSp>
        <p:nvGrpSpPr>
          <p:cNvPr id="14" name="Group 14"/>
          <p:cNvGrpSpPr/>
          <p:nvPr/>
        </p:nvGrpSpPr>
        <p:grpSpPr>
          <a:xfrm>
            <a:off x="3173850" y="5705050"/>
            <a:ext cx="1282800" cy="1282800"/>
            <a:chOff x="0" y="0"/>
            <a:chExt cx="1710400" cy="17104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710436" cy="1710436"/>
            </a:xfrm>
            <a:custGeom>
              <a:avLst/>
              <a:gdLst/>
              <a:ahLst/>
              <a:cxnLst/>
              <a:rect l="l" t="t" r="r" b="b"/>
              <a:pathLst>
                <a:path w="1710436" h="1710436">
                  <a:moveTo>
                    <a:pt x="0" y="0"/>
                  </a:moveTo>
                  <a:lnTo>
                    <a:pt x="1710436" y="0"/>
                  </a:lnTo>
                  <a:lnTo>
                    <a:pt x="1710436" y="1710436"/>
                  </a:lnTo>
                  <a:lnTo>
                    <a:pt x="0" y="1710436"/>
                  </a:lnTo>
                  <a:close/>
                </a:path>
              </a:pathLst>
            </a:custGeom>
            <a:solidFill>
              <a:srgbClr val="FEFFFA">
                <a:alpha val="15686"/>
              </a:srgbClr>
            </a:solidFill>
          </p:spPr>
        </p:sp>
      </p:grpSp>
      <p:grpSp>
        <p:nvGrpSpPr>
          <p:cNvPr id="16" name="Group 16"/>
          <p:cNvGrpSpPr/>
          <p:nvPr/>
        </p:nvGrpSpPr>
        <p:grpSpPr>
          <a:xfrm>
            <a:off x="4749500" y="5705050"/>
            <a:ext cx="1282800" cy="1282800"/>
            <a:chOff x="0" y="0"/>
            <a:chExt cx="1710400" cy="17104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710436" cy="1710436"/>
            </a:xfrm>
            <a:custGeom>
              <a:avLst/>
              <a:gdLst/>
              <a:ahLst/>
              <a:cxnLst/>
              <a:rect l="l" t="t" r="r" b="b"/>
              <a:pathLst>
                <a:path w="1710436" h="1710436">
                  <a:moveTo>
                    <a:pt x="0" y="0"/>
                  </a:moveTo>
                  <a:lnTo>
                    <a:pt x="1710436" y="0"/>
                  </a:lnTo>
                  <a:lnTo>
                    <a:pt x="1710436" y="1710436"/>
                  </a:lnTo>
                  <a:lnTo>
                    <a:pt x="0" y="1710436"/>
                  </a:lnTo>
                  <a:close/>
                </a:path>
              </a:pathLst>
            </a:custGeom>
            <a:solidFill>
              <a:srgbClr val="FEFFFA">
                <a:alpha val="15686"/>
              </a:srgbClr>
            </a:solidFill>
          </p:spPr>
        </p:sp>
      </p:grpSp>
      <p:sp>
        <p:nvSpPr>
          <p:cNvPr id="18" name="Freeform 18"/>
          <p:cNvSpPr/>
          <p:nvPr/>
        </p:nvSpPr>
        <p:spPr>
          <a:xfrm>
            <a:off x="1730676" y="5867112"/>
            <a:ext cx="1017830" cy="958696"/>
          </a:xfrm>
          <a:custGeom>
            <a:avLst/>
            <a:gdLst/>
            <a:ahLst/>
            <a:cxnLst/>
            <a:rect l="l" t="t" r="r" b="b"/>
            <a:pathLst>
              <a:path w="1017830" h="958696">
                <a:moveTo>
                  <a:pt x="0" y="0"/>
                </a:moveTo>
                <a:lnTo>
                  <a:pt x="1017830" y="0"/>
                </a:lnTo>
                <a:lnTo>
                  <a:pt x="1017830" y="958696"/>
                </a:lnTo>
                <a:lnTo>
                  <a:pt x="0" y="95869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="" xmlns:asvg="http://schemas.microsoft.com/office/drawing/2016/SVG/main" r:embed="rId14"/>
                </a:ext>
              </a:extLst>
            </a:blip>
            <a:stretch>
              <a:fillRect/>
            </a:stretch>
          </a:blipFill>
        </p:spPr>
      </p:sp>
      <p:sp>
        <p:nvSpPr>
          <p:cNvPr id="19" name="Freeform 19"/>
          <p:cNvSpPr/>
          <p:nvPr/>
        </p:nvSpPr>
        <p:spPr>
          <a:xfrm>
            <a:off x="3309824" y="5867082"/>
            <a:ext cx="1010854" cy="958696"/>
          </a:xfrm>
          <a:custGeom>
            <a:avLst/>
            <a:gdLst/>
            <a:ahLst/>
            <a:cxnLst/>
            <a:rect l="l" t="t" r="r" b="b"/>
            <a:pathLst>
              <a:path w="1010854" h="958696">
                <a:moveTo>
                  <a:pt x="0" y="0"/>
                </a:moveTo>
                <a:lnTo>
                  <a:pt x="1010854" y="0"/>
                </a:lnTo>
                <a:lnTo>
                  <a:pt x="1010854" y="958696"/>
                </a:lnTo>
                <a:lnTo>
                  <a:pt x="0" y="958696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="" xmlns:asvg="http://schemas.microsoft.com/office/drawing/2016/SVG/main" r:embed="rId16"/>
                </a:ext>
              </a:extLst>
            </a:blip>
            <a:stretch>
              <a:fillRect/>
            </a:stretch>
          </a:blipFill>
        </p:spPr>
      </p:sp>
      <p:sp>
        <p:nvSpPr>
          <p:cNvPr id="20" name="Freeform 20"/>
          <p:cNvSpPr/>
          <p:nvPr/>
        </p:nvSpPr>
        <p:spPr>
          <a:xfrm>
            <a:off x="4882018" y="5867082"/>
            <a:ext cx="1010566" cy="958696"/>
          </a:xfrm>
          <a:custGeom>
            <a:avLst/>
            <a:gdLst/>
            <a:ahLst/>
            <a:cxnLst/>
            <a:rect l="l" t="t" r="r" b="b"/>
            <a:pathLst>
              <a:path w="1010566" h="958696">
                <a:moveTo>
                  <a:pt x="0" y="0"/>
                </a:moveTo>
                <a:lnTo>
                  <a:pt x="1010566" y="0"/>
                </a:lnTo>
                <a:lnTo>
                  <a:pt x="1010566" y="958696"/>
                </a:lnTo>
                <a:lnTo>
                  <a:pt x="0" y="958696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="" xmlns:asvg="http://schemas.microsoft.com/office/drawing/2016/SVG/main" r:embed="rId18"/>
                </a:ext>
              </a:extLst>
            </a:blip>
            <a:stretch>
              <a:fillRect/>
            </a:stretch>
          </a:blipFill>
        </p:spPr>
      </p:sp>
      <p:pic>
        <p:nvPicPr>
          <p:cNvPr id="21" name="Picture 20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2196252" y="5499821"/>
            <a:ext cx="3554276" cy="3054361"/>
          </a:xfrm>
          <a:prstGeom prst="rect">
            <a:avLst/>
          </a:prstGeom>
        </p:spPr>
      </p:pic>
      <p:pic>
        <p:nvPicPr>
          <p:cNvPr id="22" name="Picture 21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2988801" y="5061233"/>
            <a:ext cx="792549" cy="774259"/>
          </a:xfrm>
          <a:prstGeom prst="rect">
            <a:avLst/>
          </a:prstGeom>
        </p:spPr>
      </p:pic>
      <p:pic>
        <p:nvPicPr>
          <p:cNvPr id="23" name="Picture 22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2253590" y="4622644"/>
            <a:ext cx="792549" cy="774259"/>
          </a:xfrm>
          <a:prstGeom prst="rect">
            <a:avLst/>
          </a:prstGeom>
        </p:spPr>
      </p:pic>
      <p:pic>
        <p:nvPicPr>
          <p:cNvPr id="24" name="Picture 23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 rot="824465">
            <a:off x="12234227" y="5479952"/>
            <a:ext cx="792549" cy="77425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310</TotalTime>
  <Words>813</Words>
  <Application>Microsoft Office PowerPoint</Application>
  <PresentationFormat>Custom</PresentationFormat>
  <Paragraphs>112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8" baseType="lpstr">
      <vt:lpstr>Open Sans</vt:lpstr>
      <vt:lpstr>Calibri</vt:lpstr>
      <vt:lpstr>Andika</vt:lpstr>
      <vt:lpstr>Monotype Corsiva</vt:lpstr>
      <vt:lpstr>Open Sans Bold</vt:lpstr>
      <vt:lpstr>Rogue</vt:lpstr>
      <vt:lpstr>DM Serif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Copy of Vintage Coffee Shop Business Plan by Slidesgo.pptx</dc:title>
  <dc:creator>Lihle Ndlovu</dc:creator>
  <cp:lastModifiedBy>Lihle Ndlovu</cp:lastModifiedBy>
  <cp:revision>35</cp:revision>
  <dcterms:created xsi:type="dcterms:W3CDTF">2006-08-16T00:00:00Z</dcterms:created>
  <dcterms:modified xsi:type="dcterms:W3CDTF">2025-11-15T11:49:07Z</dcterms:modified>
  <dc:identifier>DAG0quMDYpU</dc:identifier>
</cp:coreProperties>
</file>